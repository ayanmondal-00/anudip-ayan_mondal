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84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p:scale>
          <a:sx n="50" d="100"/>
          <a:sy n="50" d="100"/>
        </p:scale>
        <p:origin x="1925" y="57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42A6D-7725-C637-27B3-0A445EFA7C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8D1892-58B9-6686-59CB-D84031DC89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575AE95-4CC2-27F0-12C3-7D9FA1B26E45}"/>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5" name="Footer Placeholder 4">
            <a:extLst>
              <a:ext uri="{FF2B5EF4-FFF2-40B4-BE49-F238E27FC236}">
                <a16:creationId xmlns:a16="http://schemas.microsoft.com/office/drawing/2014/main" id="{7B15B124-8899-1044-BD5D-D85CD83B7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7AFA8E-491A-5355-49ED-0BBE4B1FC6A6}"/>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819560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84EC-C5B1-59AA-764C-A5DA0575CF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58E3D0-B00B-9858-A3C1-A85CB808E2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6B8EFE-BBE9-DA25-58F2-007CFA97AFF9}"/>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5" name="Footer Placeholder 4">
            <a:extLst>
              <a:ext uri="{FF2B5EF4-FFF2-40B4-BE49-F238E27FC236}">
                <a16:creationId xmlns:a16="http://schemas.microsoft.com/office/drawing/2014/main" id="{2DFD6419-4C10-138C-073A-191143FD84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B18042-8143-145F-575C-74A83BF3F0B6}"/>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4194040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54F28-C517-9A1A-A4CD-EE8AA29857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38C42E-8413-87EF-2008-2BECEBB293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07E70E-70CB-FEF7-D6BD-AEC4DFC3ACA9}"/>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5" name="Footer Placeholder 4">
            <a:extLst>
              <a:ext uri="{FF2B5EF4-FFF2-40B4-BE49-F238E27FC236}">
                <a16:creationId xmlns:a16="http://schemas.microsoft.com/office/drawing/2014/main" id="{92D3B10A-A840-71D5-A9B7-03D1299190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008432-7792-324E-6A7B-38504CF0F0B1}"/>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3877627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1B0EB-D9BD-845A-8336-CDA5AB9B12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6F2F00-4838-66B8-FDDE-05DC165A6E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35C518-96C3-7332-129F-48D1221C1E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9904AA-91C0-3576-DF09-BA2F2C281CC5}"/>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6" name="Footer Placeholder 5">
            <a:extLst>
              <a:ext uri="{FF2B5EF4-FFF2-40B4-BE49-F238E27FC236}">
                <a16:creationId xmlns:a16="http://schemas.microsoft.com/office/drawing/2014/main" id="{7D81D34B-472E-8659-35C2-4F4FDF2122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6F7CE1-B73C-7110-5EE2-7D5B7DDF732E}"/>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1029595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FDB39-D2B9-CC7E-CBAC-D6F16E5BFE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391E48-DB61-4830-2614-B4F1B049FC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46690D-F21F-998B-E482-5F02F69FD3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03C95A-6BD5-4BBE-8069-F73734E55F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71DBF3-C1F7-17FF-7E99-EF874F704A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7D8E23-869D-3BD0-3DDD-704FDD7D26AD}"/>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8" name="Footer Placeholder 7">
            <a:extLst>
              <a:ext uri="{FF2B5EF4-FFF2-40B4-BE49-F238E27FC236}">
                <a16:creationId xmlns:a16="http://schemas.microsoft.com/office/drawing/2014/main" id="{4F6C396C-474D-4E39-AC3C-E481D34F01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0C86FDB-5192-7A09-3D11-2A6110485C00}"/>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4030653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2935D-84B4-A597-3814-C5D6278666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9B0C1D-4312-2A5F-1123-898FD24FC99D}"/>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4" name="Footer Placeholder 3">
            <a:extLst>
              <a:ext uri="{FF2B5EF4-FFF2-40B4-BE49-F238E27FC236}">
                <a16:creationId xmlns:a16="http://schemas.microsoft.com/office/drawing/2014/main" id="{9C36FFC9-10D7-8155-8AAB-8387D5368C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1533B7-8A62-B60D-85C3-2B9B84D6104B}"/>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395386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37619F-EDEE-09BF-328A-0B16F828816B}"/>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3" name="Footer Placeholder 2">
            <a:extLst>
              <a:ext uri="{FF2B5EF4-FFF2-40B4-BE49-F238E27FC236}">
                <a16:creationId xmlns:a16="http://schemas.microsoft.com/office/drawing/2014/main" id="{D4842FF2-4D40-04F0-0039-9F5C27FBCC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3EACE59-C518-67B0-A09A-CCBA6985262A}"/>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3539954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071C5-74E3-ACB6-CAC7-85CA159FA2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33BB98-EBBC-62B5-8862-A621FA6227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4D64A59-0FC0-DD38-F55A-B3C7CDD20D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8B7B8A-DE13-6EAF-9783-232E45B9A21D}"/>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6" name="Footer Placeholder 5">
            <a:extLst>
              <a:ext uri="{FF2B5EF4-FFF2-40B4-BE49-F238E27FC236}">
                <a16:creationId xmlns:a16="http://schemas.microsoft.com/office/drawing/2014/main" id="{44A77353-DBC8-1C4A-784E-816168810D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C2BE1D-48FC-E859-F373-5A8FC34A2571}"/>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387470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4D84-391A-035A-4B6D-1F451E3548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EACE00-3B25-21A5-E211-65D0083A59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54556B-B930-171B-558D-E409959CF7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ED19C-EF4B-430E-F2B2-D2395C5E707E}"/>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6" name="Footer Placeholder 5">
            <a:extLst>
              <a:ext uri="{FF2B5EF4-FFF2-40B4-BE49-F238E27FC236}">
                <a16:creationId xmlns:a16="http://schemas.microsoft.com/office/drawing/2014/main" id="{6BBF240E-B9FC-CC81-9832-ED2AC6EBF0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27CDE0-9B97-36A3-76A8-7FE7C97A441B}"/>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3053919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73332-9D83-54AC-7D52-AB7D7529C37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FCAD9C-6113-6D61-5527-99D89CFD67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DC002C-4FF3-D885-616E-06663A4C1BF3}"/>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5" name="Footer Placeholder 4">
            <a:extLst>
              <a:ext uri="{FF2B5EF4-FFF2-40B4-BE49-F238E27FC236}">
                <a16:creationId xmlns:a16="http://schemas.microsoft.com/office/drawing/2014/main" id="{0D61669F-BA1F-5E60-CE33-DDC7DE83DB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724890-7574-2E4A-189D-9A667EF9556B}"/>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3763136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EFE078-EF3A-14BF-0C9C-14609EE253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42649A-37FF-0D2F-ACF6-1B3C4A32BA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AF972A-6DEB-F512-0E08-4725581662FE}"/>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5" name="Footer Placeholder 4">
            <a:extLst>
              <a:ext uri="{FF2B5EF4-FFF2-40B4-BE49-F238E27FC236}">
                <a16:creationId xmlns:a16="http://schemas.microsoft.com/office/drawing/2014/main" id="{F96BF6AC-8065-19A1-0EA6-F013252FC9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EB2394-4A16-2B7F-ABA2-9445688C9621}"/>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1325767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90EB9-AB45-2741-9352-6CCD65A3EC24}"/>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EFA589-1215-7B44-5FC1-DF944122C96B}"/>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A684FD-B090-ACBE-2EFE-0A16304B86F8}"/>
              </a:ext>
            </a:extLst>
          </p:cNvPr>
          <p:cNvSpPr>
            <a:spLocks noGrp="1"/>
          </p:cNvSpPr>
          <p:nvPr>
            <p:ph type="dt" sz="half" idx="10"/>
          </p:nvPr>
        </p:nvSpPr>
        <p:spPr/>
        <p:txBody>
          <a:bodyPr/>
          <a:lstStyle/>
          <a:p>
            <a:fld id="{65D23810-3BED-44B9-978C-A1EC487112CB}" type="datetimeFigureOut">
              <a:rPr lang="en-IN" smtClean="0"/>
              <a:t>01-03-2026</a:t>
            </a:fld>
            <a:endParaRPr lang="en-IN"/>
          </a:p>
        </p:txBody>
      </p:sp>
      <p:sp>
        <p:nvSpPr>
          <p:cNvPr id="5" name="Footer Placeholder 4">
            <a:extLst>
              <a:ext uri="{FF2B5EF4-FFF2-40B4-BE49-F238E27FC236}">
                <a16:creationId xmlns:a16="http://schemas.microsoft.com/office/drawing/2014/main" id="{86DAB999-8E58-7FA5-AC7A-7CA5F08552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21DF30-4C59-F403-888E-66417D14E052}"/>
              </a:ext>
            </a:extLst>
          </p:cNvPr>
          <p:cNvSpPr>
            <a:spLocks noGrp="1"/>
          </p:cNvSpPr>
          <p:nvPr>
            <p:ph type="sldNum" sz="quarter" idx="12"/>
          </p:nvPr>
        </p:nvSpPr>
        <p:spPr/>
        <p:txBody>
          <a:bodyPr/>
          <a:lstStyle/>
          <a:p>
            <a:fld id="{005C5666-65AE-411B-B62E-5B3791CD48DF}" type="slidenum">
              <a:rPr lang="en-IN" smtClean="0"/>
              <a:t>‹#›</a:t>
            </a:fld>
            <a:endParaRPr lang="en-IN"/>
          </a:p>
        </p:txBody>
      </p:sp>
    </p:spTree>
    <p:extLst>
      <p:ext uri="{BB962C8B-B14F-4D97-AF65-F5344CB8AC3E}">
        <p14:creationId xmlns:p14="http://schemas.microsoft.com/office/powerpoint/2010/main" val="3496222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0FCCEC-0FF7-4A60-1EEE-1D7C904271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7ECD6A-DBC5-376D-1D15-C8A5E33EB9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EA4CBC-2235-5461-BF4D-E7AEBB4E06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D23810-3BED-44B9-978C-A1EC487112CB}" type="datetimeFigureOut">
              <a:rPr lang="en-IN" smtClean="0"/>
              <a:t>01-03-2026</a:t>
            </a:fld>
            <a:endParaRPr lang="en-IN"/>
          </a:p>
        </p:txBody>
      </p:sp>
      <p:sp>
        <p:nvSpPr>
          <p:cNvPr id="5" name="Footer Placeholder 4">
            <a:extLst>
              <a:ext uri="{FF2B5EF4-FFF2-40B4-BE49-F238E27FC236}">
                <a16:creationId xmlns:a16="http://schemas.microsoft.com/office/drawing/2014/main" id="{534A038A-7FC9-1509-8626-A47BEB3346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348D6F3-96F3-2702-6BD0-45260AACDA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5C5666-65AE-411B-B62E-5B3791CD48DF}" type="slidenum">
              <a:rPr lang="en-IN" smtClean="0"/>
              <a:t>‹#›</a:t>
            </a:fld>
            <a:endParaRPr lang="en-IN"/>
          </a:p>
        </p:txBody>
      </p:sp>
    </p:spTree>
    <p:extLst>
      <p:ext uri="{BB962C8B-B14F-4D97-AF65-F5344CB8AC3E}">
        <p14:creationId xmlns:p14="http://schemas.microsoft.com/office/powerpoint/2010/main" val="3937071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F84EAC-A349-F81F-88C6-877B0F63A23C}"/>
              </a:ext>
            </a:extLst>
          </p:cNvPr>
          <p:cNvSpPr txBox="1"/>
          <p:nvPr/>
        </p:nvSpPr>
        <p:spPr>
          <a:xfrm>
            <a:off x="2590800" y="1729048"/>
            <a:ext cx="7010400" cy="1107996"/>
          </a:xfrm>
          <a:prstGeom prst="rect">
            <a:avLst/>
          </a:prstGeom>
          <a:noFill/>
        </p:spPr>
        <p:txBody>
          <a:bodyPr wrap="square">
            <a:spAutoFit/>
          </a:bodyPr>
          <a:lstStyle/>
          <a:p>
            <a:pPr algn="ctr">
              <a:defRPr sz="2200">
                <a:solidFill>
                  <a:srgbClr val="DCDCDC"/>
                </a:solidFill>
                <a:latin typeface="Calibri"/>
              </a:defRPr>
            </a:pPr>
            <a:r>
              <a:rPr sz="2200" dirty="0"/>
              <a:t>IT and Business Systems</a:t>
            </a:r>
          </a:p>
          <a:p>
            <a:pPr algn="ctr">
              <a:defRPr sz="2200">
                <a:solidFill>
                  <a:srgbClr val="DCDCDC"/>
                </a:solidFill>
                <a:latin typeface="Calibri"/>
              </a:defRPr>
            </a:pPr>
            <a:r>
              <a:rPr sz="2200" dirty="0"/>
              <a:t>A Comprehensive Presentation on Information Technology Concepts and Business Integration</a:t>
            </a:r>
          </a:p>
        </p:txBody>
      </p:sp>
      <p:sp>
        <p:nvSpPr>
          <p:cNvPr id="4" name="TextBox 3">
            <a:extLst>
              <a:ext uri="{FF2B5EF4-FFF2-40B4-BE49-F238E27FC236}">
                <a16:creationId xmlns:a16="http://schemas.microsoft.com/office/drawing/2014/main" id="{0A9E28A9-2770-1E9E-9FB7-0DE671D3B179}"/>
              </a:ext>
            </a:extLst>
          </p:cNvPr>
          <p:cNvSpPr txBox="1"/>
          <p:nvPr/>
        </p:nvSpPr>
        <p:spPr>
          <a:xfrm>
            <a:off x="4547339" y="371995"/>
            <a:ext cx="3097322" cy="830997"/>
          </a:xfrm>
          <a:prstGeom prst="rect">
            <a:avLst/>
          </a:prstGeom>
          <a:noFill/>
        </p:spPr>
        <p:txBody>
          <a:bodyPr wrap="none">
            <a:spAutoFit/>
          </a:bodyPr>
          <a:lstStyle/>
          <a:p>
            <a:pPr algn="ctr"/>
            <a:r>
              <a:rPr sz="4800" b="1" dirty="0">
                <a:solidFill>
                  <a:schemeClr val="accent6">
                    <a:lumMod val="40000"/>
                    <a:lumOff val="60000"/>
                  </a:schemeClr>
                </a:solidFill>
                <a:latin typeface="Calibri"/>
              </a:rPr>
              <a:t>IT MODULE</a:t>
            </a:r>
          </a:p>
        </p:txBody>
      </p:sp>
      <p:sp>
        <p:nvSpPr>
          <p:cNvPr id="5" name="TextBox 4">
            <a:extLst>
              <a:ext uri="{FF2B5EF4-FFF2-40B4-BE49-F238E27FC236}">
                <a16:creationId xmlns:a16="http://schemas.microsoft.com/office/drawing/2014/main" id="{EE3575F1-B956-AD81-A868-9A9CA7973536}"/>
              </a:ext>
            </a:extLst>
          </p:cNvPr>
          <p:cNvSpPr txBox="1"/>
          <p:nvPr/>
        </p:nvSpPr>
        <p:spPr>
          <a:xfrm>
            <a:off x="4547339" y="3436181"/>
            <a:ext cx="3298019" cy="1169551"/>
          </a:xfrm>
          <a:prstGeom prst="rect">
            <a:avLst/>
          </a:prstGeom>
          <a:noFill/>
        </p:spPr>
        <p:txBody>
          <a:bodyPr wrap="none">
            <a:spAutoFit/>
          </a:bodyPr>
          <a:lstStyle/>
          <a:p>
            <a:pPr algn="ctr">
              <a:defRPr sz="2600" b="1">
                <a:solidFill>
                  <a:srgbClr val="FFD700"/>
                </a:solidFill>
                <a:latin typeface="Calibri"/>
              </a:defRPr>
            </a:pPr>
            <a:r>
              <a:rPr sz="2600" dirty="0"/>
              <a:t>Presented By</a:t>
            </a:r>
          </a:p>
          <a:p>
            <a:pPr algn="ctr">
              <a:defRPr sz="2600" b="1">
                <a:solidFill>
                  <a:srgbClr val="FFD700"/>
                </a:solidFill>
                <a:latin typeface="Calibri"/>
              </a:defRPr>
            </a:pPr>
            <a:r>
              <a:rPr sz="4400" dirty="0">
                <a:solidFill>
                  <a:srgbClr val="BA1BE5"/>
                </a:solidFill>
              </a:rPr>
              <a:t>Ayan Mondal</a:t>
            </a:r>
          </a:p>
        </p:txBody>
      </p:sp>
      <p:pic>
        <p:nvPicPr>
          <p:cNvPr id="7" name="Picture 6">
            <a:extLst>
              <a:ext uri="{FF2B5EF4-FFF2-40B4-BE49-F238E27FC236}">
                <a16:creationId xmlns:a16="http://schemas.microsoft.com/office/drawing/2014/main" id="{93477928-567C-E2C7-EF32-1B6E135C1052}"/>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336605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C34F7-A873-D971-D181-3E971D870BD8}"/>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Introduction to IT and Business Systems</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078B357B-362B-A6D2-146F-6F83371BBF89}"/>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Information Technology (IT) and Business Systems form the digital backbone of modern organizations. In today’s competitive landscape, businesses rely heavily on technology for communication, operations, analytics, and innovation. Business systems integrate processes, people, and technology to ensure efficiency and scalability. ERP systems further unify these processes under a centralized platform.</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IT drives digital transformation across modern enterprises globally</a:t>
            </a:r>
          </a:p>
          <a:p>
            <a:r>
              <a:rPr lang="en-GB" sz="2000">
                <a:solidFill>
                  <a:srgbClr val="E6E6E6"/>
                </a:solidFill>
                <a:latin typeface="Calibri" panose="020F0502020204030204" pitchFamily="34" charset="0"/>
              </a:rPr>
              <a:t>• Business systems integrate people, processes, and technology effectively</a:t>
            </a:r>
          </a:p>
          <a:p>
            <a:r>
              <a:rPr lang="en-GB" sz="2000">
                <a:solidFill>
                  <a:srgbClr val="E6E6E6"/>
                </a:solidFill>
                <a:latin typeface="Calibri" panose="020F0502020204030204" pitchFamily="34" charset="0"/>
              </a:rPr>
              <a:t>• ERP centralizes enterprise operations within unified digital platform</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F3D33A8E-C38A-7F9C-1A59-F4BCCA2409E6}"/>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05668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DB522-ACDD-6875-8B73-CA0AA1522549}"/>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What is Information Technology (IT)?</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474A39E1-FA36-C54F-ADCC-B1BF3B57349B}"/>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Information Technology refers to the use of computer systems, networks, databases, and software applications to store, process, secure, and transmit information. It enables automation, cloud computing, cybersecurity, and digital communication. IT supports both operational efficiency and strategic decision-making in organizations.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IT includes hardware, software, databases, and communication networks</a:t>
            </a:r>
          </a:p>
          <a:p>
            <a:r>
              <a:rPr lang="en-GB" sz="2000">
                <a:solidFill>
                  <a:srgbClr val="E6E6E6"/>
                </a:solidFill>
                <a:latin typeface="Calibri" panose="020F0502020204030204" pitchFamily="34" charset="0"/>
              </a:rPr>
              <a:t>• Enables automation, cloud computing, and secure data management</a:t>
            </a:r>
          </a:p>
          <a:p>
            <a:r>
              <a:rPr lang="en-GB" sz="2000">
                <a:solidFill>
                  <a:srgbClr val="E6E6E6"/>
                </a:solidFill>
                <a:latin typeface="Calibri" panose="020F0502020204030204" pitchFamily="34" charset="0"/>
              </a:rPr>
              <a:t>• Supports strategic growth and operational business efficiency</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CF0F9D38-88C9-2304-DF86-8947D38DDBD7}"/>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21260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7153D-9E81-21E0-4B85-40F92B8880C0}"/>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Importance of IT in Business</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26439A9F-E20D-4AA7-4F3E-87828FAE10A3}"/>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IT enhances productivity by automating repetitive tasks and reducing manual errors. It strengthens communication across departments using collaborative platforms. Businesses use IT to analyze data, forecast trends, and respond quickly to market changes.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Automation increases productivity and reduces operational errors</a:t>
            </a:r>
          </a:p>
          <a:p>
            <a:r>
              <a:rPr lang="en-GB" sz="2000">
                <a:solidFill>
                  <a:srgbClr val="E6E6E6"/>
                </a:solidFill>
                <a:latin typeface="Calibri" panose="020F0502020204030204" pitchFamily="34" charset="0"/>
              </a:rPr>
              <a:t>• Digital communication improves collaboration across departments</a:t>
            </a:r>
          </a:p>
          <a:p>
            <a:r>
              <a:rPr lang="en-GB" sz="2000">
                <a:solidFill>
                  <a:srgbClr val="E6E6E6"/>
                </a:solidFill>
                <a:latin typeface="Calibri" panose="020F0502020204030204" pitchFamily="34" charset="0"/>
              </a:rPr>
              <a:t>• Analytics tools enable strategic data-driven decision making</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2ED3109F-F0F1-BD15-B202-5EBD79A1A3BE}"/>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69905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1737C-3A6C-E612-5D27-C59D9A153D37}"/>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Business Systems &amp; ERP</a:t>
            </a:r>
          </a:p>
        </p:txBody>
      </p:sp>
      <p:sp>
        <p:nvSpPr>
          <p:cNvPr id="3" name="Text Placeholder 2">
            <a:extLst>
              <a:ext uri="{FF2B5EF4-FFF2-40B4-BE49-F238E27FC236}">
                <a16:creationId xmlns:a16="http://schemas.microsoft.com/office/drawing/2014/main" id="{2132F687-25F5-29B8-AEE4-A2F203A478AF}"/>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Enterprise Resource Planning (ERP) systems integrate major business functions into one centralized system. Finance, HR, supply chain, and CRM operate within a shared database. This integration eliminates data silos and improves reporting accuracy.</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ERP integrates finance, HR, supply chain, and CRM modules</a:t>
            </a:r>
          </a:p>
          <a:p>
            <a:r>
              <a:rPr lang="en-GB" sz="2000">
                <a:solidFill>
                  <a:srgbClr val="E6E6E6"/>
                </a:solidFill>
                <a:latin typeface="Calibri" panose="020F0502020204030204" pitchFamily="34" charset="0"/>
              </a:rPr>
              <a:t>• Centralized database eliminates departmental data silos</a:t>
            </a:r>
          </a:p>
          <a:p>
            <a:r>
              <a:rPr lang="en-GB" sz="2000">
                <a:solidFill>
                  <a:srgbClr val="E6E6E6"/>
                </a:solidFill>
                <a:latin typeface="Calibri" panose="020F0502020204030204" pitchFamily="34" charset="0"/>
              </a:rPr>
              <a:t>• Real-time reporting enhances operational transparency</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F71D4F57-ED34-B8AA-41BB-1EF36662D8DD}"/>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30673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0CD9-0C6A-62CA-264C-429873BB435F}"/>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IT–Business Strategy Alignment</a:t>
            </a:r>
          </a:p>
        </p:txBody>
      </p:sp>
      <p:sp>
        <p:nvSpPr>
          <p:cNvPr id="3" name="Text Placeholder 2">
            <a:extLst>
              <a:ext uri="{FF2B5EF4-FFF2-40B4-BE49-F238E27FC236}">
                <a16:creationId xmlns:a16="http://schemas.microsoft.com/office/drawing/2014/main" id="{62D29EDB-165C-02FD-CEED-4508D2298DDF}"/>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Aligning IT strategy with business goals ensures technology investments generate measurable value. When alignment exists, organizations innovate faster and optimize resources. Misalignment creates communication gaps and inefficient spending.</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Align IT initiatives with long-term business objectives</a:t>
            </a:r>
          </a:p>
          <a:p>
            <a:r>
              <a:rPr lang="en-GB" sz="2000">
                <a:solidFill>
                  <a:srgbClr val="E6E6E6"/>
                </a:solidFill>
                <a:latin typeface="Calibri" panose="020F0502020204030204" pitchFamily="34" charset="0"/>
              </a:rPr>
              <a:t>• Improves responsiveness and competitive market positioning</a:t>
            </a:r>
          </a:p>
          <a:p>
            <a:r>
              <a:rPr lang="en-GB" sz="2000">
                <a:solidFill>
                  <a:srgbClr val="E6E6E6"/>
                </a:solidFill>
                <a:latin typeface="Calibri" panose="020F0502020204030204" pitchFamily="34" charset="0"/>
              </a:rPr>
              <a:t>• Communication gap remains major alignment challenge</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616ED8BE-4455-8D9C-5AED-4B253F669313}"/>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036133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C6DC4-886D-8BEB-94AF-AEFED4F75736}"/>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Data Types, Sources &amp; Lifecycle</a:t>
            </a:r>
          </a:p>
        </p:txBody>
      </p:sp>
      <p:sp>
        <p:nvSpPr>
          <p:cNvPr id="3" name="Text Placeholder 2">
            <a:extLst>
              <a:ext uri="{FF2B5EF4-FFF2-40B4-BE49-F238E27FC236}">
                <a16:creationId xmlns:a16="http://schemas.microsoft.com/office/drawing/2014/main" id="{1FFEE06B-93D1-797C-72F8-967EF74A56DA}"/>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 is the foundation of analytics and decision-making. Understanding its structure, origin, and lifecycle helps organizations manage it effectively. Proper lifecycle governance ensures security, quality, and compliance.</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Data classification improves analytical performance and storage efficiency</a:t>
            </a:r>
          </a:p>
          <a:p>
            <a:r>
              <a:rPr lang="en-GB" sz="2000">
                <a:solidFill>
                  <a:srgbClr val="E6E6E6"/>
                </a:solidFill>
                <a:latin typeface="Calibri" panose="020F0502020204030204" pitchFamily="34" charset="0"/>
              </a:rPr>
              <a:t>• Reliable sources increase credibility of business insights</a:t>
            </a:r>
          </a:p>
          <a:p>
            <a:r>
              <a:rPr lang="en-GB" sz="2000">
                <a:solidFill>
                  <a:srgbClr val="E6E6E6"/>
                </a:solidFill>
                <a:latin typeface="Calibri" panose="020F0502020204030204" pitchFamily="34" charset="0"/>
              </a:rPr>
              <a:t>• Lifecycle governance ensures compliance and security</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E21DAE73-C70D-020C-33CC-8995E2FB9101}"/>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4080795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D5701-B57C-F617-624A-2214F5C4DE0B}"/>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Data Types Overview</a:t>
            </a:r>
          </a:p>
        </p:txBody>
      </p:sp>
      <p:sp>
        <p:nvSpPr>
          <p:cNvPr id="3" name="Text Placeholder 2">
            <a:extLst>
              <a:ext uri="{FF2B5EF4-FFF2-40B4-BE49-F238E27FC236}">
                <a16:creationId xmlns:a16="http://schemas.microsoft.com/office/drawing/2014/main" id="{A743F4D9-0874-2A00-1226-64ACBE8C9B77}"/>
              </a:ext>
            </a:extLst>
          </p:cNvPr>
          <p:cNvSpPr>
            <a:spLocks noGrp="1"/>
          </p:cNvSpPr>
          <p:nvPr>
            <p:ph type="body" idx="1"/>
          </p:nvPr>
        </p:nvSpPr>
        <p:spPr/>
        <p:txBody>
          <a:bodyPr>
            <a:normAutofit/>
          </a:bodyPr>
          <a:lstStyle/>
          <a:p>
            <a:r>
              <a:rPr lang="en-IN" sz="2000">
                <a:solidFill>
                  <a:srgbClr val="E6E6E6"/>
                </a:solidFill>
                <a:latin typeface="Calibri" panose="020F0502020204030204" pitchFamily="34" charset="0"/>
              </a:rPr>
              <a:t>Structured data is organized in predefined formats like relational databases. Semi-structured data uses tags and metadata for flexibility. Unstructured data includes emails, videos, social media, and text documents.</a:t>
            </a:r>
          </a:p>
          <a:p>
            <a:endParaRPr lang="en-IN" sz="2000">
              <a:solidFill>
                <a:srgbClr val="E6E6E6"/>
              </a:solidFill>
              <a:latin typeface="Calibri" panose="020F0502020204030204" pitchFamily="34" charset="0"/>
            </a:endParaRPr>
          </a:p>
          <a:p>
            <a:r>
              <a:rPr lang="en-IN" sz="2000">
                <a:solidFill>
                  <a:srgbClr val="E6E6E6"/>
                </a:solidFill>
                <a:latin typeface="Calibri" panose="020F0502020204030204" pitchFamily="34" charset="0"/>
              </a:rPr>
              <a:t>• Structured data stored in relational database tables</a:t>
            </a:r>
          </a:p>
          <a:p>
            <a:r>
              <a:rPr lang="en-IN" sz="2000">
                <a:solidFill>
                  <a:srgbClr val="E6E6E6"/>
                </a:solidFill>
                <a:latin typeface="Calibri" panose="020F0502020204030204" pitchFamily="34" charset="0"/>
              </a:rPr>
              <a:t>• Semi-structured data contains flexible metadata tags</a:t>
            </a:r>
          </a:p>
          <a:p>
            <a:r>
              <a:rPr lang="en-IN" sz="2000">
                <a:solidFill>
                  <a:srgbClr val="E6E6E6"/>
                </a:solidFill>
                <a:latin typeface="Calibri" panose="020F0502020204030204" pitchFamily="34" charset="0"/>
              </a:rPr>
              <a:t>• Unstructured data includes multimedia and free text</a:t>
            </a:r>
          </a:p>
        </p:txBody>
      </p:sp>
      <p:pic>
        <p:nvPicPr>
          <p:cNvPr id="4" name="Picture 3">
            <a:extLst>
              <a:ext uri="{FF2B5EF4-FFF2-40B4-BE49-F238E27FC236}">
                <a16:creationId xmlns:a16="http://schemas.microsoft.com/office/drawing/2014/main" id="{DDAB03BC-C504-E621-1C63-59CCC36B51A9}"/>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412634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491C5-600B-669B-2BF4-4E5E7667CABF}"/>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Structured vs Semi-Structured vs Unstructured</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E6A52028-A474-57AC-EB58-BF20ACF3FD43}"/>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Structured data is easy to query using SQL. Semi-structured allows adaptability without strict schemas. Unstructured data requires AI and machine learning tools for meaningful interpretation.</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Structured supports fast querying and reporting systems</a:t>
            </a:r>
          </a:p>
          <a:p>
            <a:r>
              <a:rPr lang="en-GB" sz="2000">
                <a:solidFill>
                  <a:srgbClr val="E6E6E6"/>
                </a:solidFill>
                <a:latin typeface="Calibri" panose="020F0502020204030204" pitchFamily="34" charset="0"/>
              </a:rPr>
              <a:t>• Semi-structured balances flexibility with partial organization</a:t>
            </a:r>
          </a:p>
          <a:p>
            <a:r>
              <a:rPr lang="en-GB" sz="2000">
                <a:solidFill>
                  <a:srgbClr val="E6E6E6"/>
                </a:solidFill>
                <a:latin typeface="Calibri" panose="020F0502020204030204" pitchFamily="34" charset="0"/>
              </a:rPr>
              <a:t>• Unstructured requires advanced analytics technologies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5853C53D-A8AD-CF79-E675-E96CC5438B44}"/>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83680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1A385-9E28-F4D6-7C75-C86FC9D034BB}"/>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Common Data Sources</a:t>
            </a:r>
          </a:p>
        </p:txBody>
      </p:sp>
      <p:sp>
        <p:nvSpPr>
          <p:cNvPr id="3" name="Text Placeholder 2">
            <a:extLst>
              <a:ext uri="{FF2B5EF4-FFF2-40B4-BE49-F238E27FC236}">
                <a16:creationId xmlns:a16="http://schemas.microsoft.com/office/drawing/2014/main" id="{5DF5636D-E7B4-CB9C-23EB-6438778D906F}"/>
              </a:ext>
            </a:extLst>
          </p:cNvPr>
          <p:cNvSpPr>
            <a:spLocks noGrp="1"/>
          </p:cNvSpPr>
          <p:nvPr>
            <p:ph type="body" idx="1"/>
          </p:nvPr>
        </p:nvSpPr>
        <p:spPr/>
        <p:txBody>
          <a:bodyPr>
            <a:normAutofit/>
          </a:bodyPr>
          <a:lstStyle/>
          <a:p>
            <a:r>
              <a:rPr lang="en-IN" sz="2000">
                <a:solidFill>
                  <a:srgbClr val="E6E6E6"/>
                </a:solidFill>
                <a:latin typeface="Calibri" panose="020F0502020204030204" pitchFamily="34" charset="0"/>
              </a:rPr>
              <a:t>Data originates from internal systems like ERP and CRM. External sources include market trends, weather data, and social media analytics. Open data portals provide government and research datasets.</a:t>
            </a:r>
          </a:p>
          <a:p>
            <a:endParaRPr lang="en-IN" sz="2000">
              <a:solidFill>
                <a:srgbClr val="E6E6E6"/>
              </a:solidFill>
              <a:latin typeface="Calibri" panose="020F0502020204030204" pitchFamily="34" charset="0"/>
            </a:endParaRPr>
          </a:p>
          <a:p>
            <a:r>
              <a:rPr lang="en-IN" sz="2000">
                <a:solidFill>
                  <a:srgbClr val="E6E6E6"/>
                </a:solidFill>
                <a:latin typeface="Calibri" panose="020F0502020204030204" pitchFamily="34" charset="0"/>
              </a:rPr>
              <a:t>• Internal systems generate transactional operational business data</a:t>
            </a:r>
          </a:p>
          <a:p>
            <a:r>
              <a:rPr lang="en-IN" sz="2000">
                <a:solidFill>
                  <a:srgbClr val="E6E6E6"/>
                </a:solidFill>
                <a:latin typeface="Calibri" panose="020F0502020204030204" pitchFamily="34" charset="0"/>
              </a:rPr>
              <a:t>• External sources include market trends and social platforms</a:t>
            </a:r>
          </a:p>
          <a:p>
            <a:r>
              <a:rPr lang="en-IN" sz="2000">
                <a:solidFill>
                  <a:srgbClr val="E6E6E6"/>
                </a:solidFill>
                <a:latin typeface="Calibri" panose="020F0502020204030204" pitchFamily="34" charset="0"/>
              </a:rPr>
              <a:t>• Open data portals enhance research and forecasting</a:t>
            </a:r>
          </a:p>
        </p:txBody>
      </p:sp>
      <p:pic>
        <p:nvPicPr>
          <p:cNvPr id="4" name="Picture 3">
            <a:extLst>
              <a:ext uri="{FF2B5EF4-FFF2-40B4-BE49-F238E27FC236}">
                <a16:creationId xmlns:a16="http://schemas.microsoft.com/office/drawing/2014/main" id="{D75427FF-9185-0881-07EB-56C70691C130}"/>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890185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2CA79-2AEB-FEA5-2B12-9D5B3C1EE6B0}"/>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Data Lifecycle Management</a:t>
            </a:r>
          </a:p>
        </p:txBody>
      </p:sp>
      <p:sp>
        <p:nvSpPr>
          <p:cNvPr id="3" name="Text Placeholder 2">
            <a:extLst>
              <a:ext uri="{FF2B5EF4-FFF2-40B4-BE49-F238E27FC236}">
                <a16:creationId xmlns:a16="http://schemas.microsoft.com/office/drawing/2014/main" id="{AF1AF594-15DE-CE6B-45B6-9529BB02E5FA}"/>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 lifecycle includes collection, storage, processing, sharing, and deletion. Managing each stage ensures confidentiality, integrity, and availability. Effective lifecycle management reduces risk and optimizes cost.</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Lifecycle stages ensure controlled structured data handling</a:t>
            </a:r>
          </a:p>
          <a:p>
            <a:r>
              <a:rPr lang="en-GB" sz="2000">
                <a:solidFill>
                  <a:srgbClr val="E6E6E6"/>
                </a:solidFill>
                <a:latin typeface="Calibri" panose="020F0502020204030204" pitchFamily="34" charset="0"/>
              </a:rPr>
              <a:t>• Protects confidentiality, integrity, and availability principles</a:t>
            </a:r>
          </a:p>
          <a:p>
            <a:r>
              <a:rPr lang="en-GB" sz="2000">
                <a:solidFill>
                  <a:srgbClr val="E6E6E6"/>
                </a:solidFill>
                <a:latin typeface="Calibri" panose="020F0502020204030204" pitchFamily="34" charset="0"/>
              </a:rPr>
              <a:t>• Supports regulatory compliance and cost optimization</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14C2E1AF-2863-9C7C-C89D-533BF308912B}"/>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895673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CFE02-1E1D-AF60-3DCB-E06F08E54522}"/>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Data Quality vs Data Integrity</a:t>
            </a:r>
          </a:p>
        </p:txBody>
      </p:sp>
      <p:sp>
        <p:nvSpPr>
          <p:cNvPr id="3" name="Text Placeholder 2">
            <a:extLst>
              <a:ext uri="{FF2B5EF4-FFF2-40B4-BE49-F238E27FC236}">
                <a16:creationId xmlns:a16="http://schemas.microsoft.com/office/drawing/2014/main" id="{102532C8-6CBD-BE9A-EF54-1602A6E280F3}"/>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 quality focuses on accuracy, completeness, and consistency. Data integrity ensures reliability and protection from unauthorized modification. Both are essential for trusted analytics and reporting.</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Data quality ensures accuracy and completeness</a:t>
            </a:r>
          </a:p>
          <a:p>
            <a:r>
              <a:rPr lang="en-GB" sz="2000">
                <a:solidFill>
                  <a:srgbClr val="E6E6E6"/>
                </a:solidFill>
                <a:latin typeface="Calibri" panose="020F0502020204030204" pitchFamily="34" charset="0"/>
              </a:rPr>
              <a:t>• Data integrity protects against corruption and tampering</a:t>
            </a:r>
          </a:p>
          <a:p>
            <a:r>
              <a:rPr lang="en-GB" sz="2000">
                <a:solidFill>
                  <a:srgbClr val="E6E6E6"/>
                </a:solidFill>
                <a:latin typeface="Calibri" panose="020F0502020204030204" pitchFamily="34" charset="0"/>
              </a:rPr>
              <a:t>• Both critical for reliable analytical outcomes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3C634823-BD60-E3BA-580E-E1C64EF21BAF}"/>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841477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5E194-83A7-300B-FC7C-F3F31DB43FD9}"/>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Challenges in Data Lifecycle</a:t>
            </a:r>
          </a:p>
        </p:txBody>
      </p:sp>
      <p:sp>
        <p:nvSpPr>
          <p:cNvPr id="3" name="Text Placeholder 2">
            <a:extLst>
              <a:ext uri="{FF2B5EF4-FFF2-40B4-BE49-F238E27FC236}">
                <a16:creationId xmlns:a16="http://schemas.microsoft.com/office/drawing/2014/main" id="{21368910-DE92-F22D-1090-41B65F01C390}"/>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Rapid data growth increases storage and management complexity. Regulatory compliance adds operational pressure. Cybersecurity threats demand continuous monitoring.</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Exponential data growth increases management complexity</a:t>
            </a:r>
          </a:p>
          <a:p>
            <a:r>
              <a:rPr lang="en-GB" sz="2000">
                <a:solidFill>
                  <a:srgbClr val="E6E6E6"/>
                </a:solidFill>
                <a:latin typeface="Calibri" panose="020F0502020204030204" pitchFamily="34" charset="0"/>
              </a:rPr>
              <a:t>• Compliance regulations demand strict governance controls</a:t>
            </a:r>
          </a:p>
          <a:p>
            <a:r>
              <a:rPr lang="en-GB" sz="2000">
                <a:solidFill>
                  <a:srgbClr val="E6E6E6"/>
                </a:solidFill>
                <a:latin typeface="Calibri" panose="020F0502020204030204" pitchFamily="34" charset="0"/>
              </a:rPr>
              <a:t>• Cyber threats require proactive monitoring strategies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17687874-6D18-847F-AEE7-3E1518C04217}"/>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14487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9BF23-B583-7235-9C9C-4E55D216D37C}"/>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Key Takeaways</a:t>
            </a:r>
          </a:p>
        </p:txBody>
      </p:sp>
      <p:sp>
        <p:nvSpPr>
          <p:cNvPr id="3" name="Text Placeholder 2">
            <a:extLst>
              <a:ext uri="{FF2B5EF4-FFF2-40B4-BE49-F238E27FC236}">
                <a16:creationId xmlns:a16="http://schemas.microsoft.com/office/drawing/2014/main" id="{2452E9BD-619E-BFD2-EF66-8C3A6B6DB9C9}"/>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 structure determines analytical flexibility and efficiency. Lifecycle management ensures secure and compliant usage. Quality and integrity build trust in business decisions.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Structured management improves analytical effectiveness</a:t>
            </a:r>
          </a:p>
          <a:p>
            <a:r>
              <a:rPr lang="en-GB" sz="2000">
                <a:solidFill>
                  <a:srgbClr val="E6E6E6"/>
                </a:solidFill>
                <a:latin typeface="Calibri" panose="020F0502020204030204" pitchFamily="34" charset="0"/>
              </a:rPr>
              <a:t>• Lifecycle ensures security and compliance adherence</a:t>
            </a:r>
          </a:p>
          <a:p>
            <a:r>
              <a:rPr lang="en-GB" sz="2000">
                <a:solidFill>
                  <a:srgbClr val="E6E6E6"/>
                </a:solidFill>
                <a:latin typeface="Calibri" panose="020F0502020204030204" pitchFamily="34" charset="0"/>
              </a:rPr>
              <a:t>• High-quality data builds decision-making trust</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E3592B90-724B-9ACE-55F5-3DDEB2BCF798}"/>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88006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C441B-495F-E577-4246-E399E36301EA}"/>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Introduction to Business Analyst Role</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BA76BB35-EA56-301A-9217-1383F5B69DEC}"/>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Business Analysts bridge communication between business stakeholders and technical teams. They analyze problems, define requirements, and propose optimized solutions. Their work ensures alignment and project success.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Acts as bridge between business and IT</a:t>
            </a:r>
          </a:p>
          <a:p>
            <a:r>
              <a:rPr lang="en-GB" sz="2000">
                <a:solidFill>
                  <a:srgbClr val="E6E6E6"/>
                </a:solidFill>
                <a:latin typeface="Calibri" panose="020F0502020204030204" pitchFamily="34" charset="0"/>
              </a:rPr>
              <a:t>• Defines problems and recommends structured solutions</a:t>
            </a:r>
          </a:p>
          <a:p>
            <a:r>
              <a:rPr lang="en-GB" sz="2000">
                <a:solidFill>
                  <a:srgbClr val="E6E6E6"/>
                </a:solidFill>
                <a:latin typeface="Calibri" panose="020F0502020204030204" pitchFamily="34" charset="0"/>
              </a:rPr>
              <a:t>• Ensures alignment of stakeholder expectations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4E201F3C-837A-5A65-DAD9-7FBC08C1BB48}"/>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53511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5A0BA-7858-B4A5-F1B1-3CD9CDBF2606}"/>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Who is a Business Analyst?</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9A66829B-BB12-97CF-4603-04C620B499DD}"/>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A Business Analyst identifies organizational needs and improvement opportunities. They document requirements clearly and facilitate collaboration across departments. Their role ensures value-driven technology implementation.</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Identifies gaps and improvement opportunities</a:t>
            </a:r>
          </a:p>
          <a:p>
            <a:r>
              <a:rPr lang="en-GB" sz="2000">
                <a:solidFill>
                  <a:srgbClr val="E6E6E6"/>
                </a:solidFill>
                <a:latin typeface="Calibri" panose="020F0502020204030204" pitchFamily="34" charset="0"/>
              </a:rPr>
              <a:t>• Documents functional and non-functional requirements clearly</a:t>
            </a:r>
          </a:p>
          <a:p>
            <a:r>
              <a:rPr lang="en-GB" sz="2000">
                <a:solidFill>
                  <a:srgbClr val="E6E6E6"/>
                </a:solidFill>
                <a:latin typeface="Calibri" panose="020F0502020204030204" pitchFamily="34" charset="0"/>
              </a:rPr>
              <a:t>• Facilitates communication across cross-functional teams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E74F7038-664F-D55D-1070-13F10626DD06}"/>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10450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A75B0-BD0E-54E3-82B7-80EAA3D35D86}"/>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Core Responsibilities</a:t>
            </a:r>
          </a:p>
        </p:txBody>
      </p:sp>
      <p:sp>
        <p:nvSpPr>
          <p:cNvPr id="3" name="Text Placeholder 2">
            <a:extLst>
              <a:ext uri="{FF2B5EF4-FFF2-40B4-BE49-F238E27FC236}">
                <a16:creationId xmlns:a16="http://schemas.microsoft.com/office/drawing/2014/main" id="{74219BFA-90B3-7E81-E28F-C6C45F40F755}"/>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Business Analysts gather requirements, analyze feasibility, and define scope. They manage stakeholder expectations and reduce risks. They ensure delivered solutions meet business objectives.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Gather analyze and validate stakeholder requirements</a:t>
            </a:r>
          </a:p>
          <a:p>
            <a:r>
              <a:rPr lang="en-GB" sz="2000">
                <a:solidFill>
                  <a:srgbClr val="E6E6E6"/>
                </a:solidFill>
                <a:latin typeface="Calibri" panose="020F0502020204030204" pitchFamily="34" charset="0"/>
              </a:rPr>
              <a:t>• Define project scope and measurable objectives</a:t>
            </a:r>
          </a:p>
          <a:p>
            <a:r>
              <a:rPr lang="en-GB" sz="2000">
                <a:solidFill>
                  <a:srgbClr val="E6E6E6"/>
                </a:solidFill>
                <a:latin typeface="Calibri" panose="020F0502020204030204" pitchFamily="34" charset="0"/>
              </a:rPr>
              <a:t>• Ensure solutions align with business strategy</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909EC55B-C92E-AA68-B091-8CB705616CE9}"/>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97258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B9CE-9072-6CC3-8D3E-9CDBB3FE4B71}"/>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Key Skills for Business Analysts</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5F93683C-DD7B-6269-7FB3-9FB3EB944B74}"/>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Effective communication and storytelling are crucial skills. Analytical thinking supports structured problem-solving. Technical proficiency improves efficiency in data analysis and reporting.</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Strong communication and stakeholder engagement skills</a:t>
            </a:r>
          </a:p>
          <a:p>
            <a:r>
              <a:rPr lang="en-GB" sz="2000">
                <a:solidFill>
                  <a:srgbClr val="E6E6E6"/>
                </a:solidFill>
                <a:latin typeface="Calibri" panose="020F0502020204030204" pitchFamily="34" charset="0"/>
              </a:rPr>
              <a:t>• Critical thinking and analytical problem-solving ability</a:t>
            </a:r>
          </a:p>
          <a:p>
            <a:r>
              <a:rPr lang="en-GB" sz="2000">
                <a:solidFill>
                  <a:srgbClr val="E6E6E6"/>
                </a:solidFill>
                <a:latin typeface="Calibri" panose="020F0502020204030204" pitchFamily="34" charset="0"/>
              </a:rPr>
              <a:t>• Technical tools proficiency in SQL and visualization</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2B417681-EBA3-1534-A609-33E6F0DCC8F5}"/>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66364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5089C-A970-FE56-20B0-5E41C8825E49}"/>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Agile vs Waterfall</a:t>
            </a:r>
          </a:p>
        </p:txBody>
      </p:sp>
      <p:sp>
        <p:nvSpPr>
          <p:cNvPr id="3" name="Text Placeholder 2">
            <a:extLst>
              <a:ext uri="{FF2B5EF4-FFF2-40B4-BE49-F238E27FC236}">
                <a16:creationId xmlns:a16="http://schemas.microsoft.com/office/drawing/2014/main" id="{DD2956BC-5412-C61D-B9C2-D543BC419B92}"/>
              </a:ext>
            </a:extLst>
          </p:cNvPr>
          <p:cNvSpPr>
            <a:spLocks noGrp="1"/>
          </p:cNvSpPr>
          <p:nvPr>
            <p:ph type="body" idx="1"/>
          </p:nvPr>
        </p:nvSpPr>
        <p:spPr/>
        <p:txBody>
          <a:bodyPr>
            <a:normAutofit/>
          </a:bodyPr>
          <a:lstStyle/>
          <a:p>
            <a:r>
              <a:rPr lang="en-IN" sz="2000">
                <a:solidFill>
                  <a:srgbClr val="E6E6E6"/>
                </a:solidFill>
                <a:latin typeface="Calibri" panose="020F0502020204030204" pitchFamily="34" charset="0"/>
              </a:rPr>
              <a:t>Waterfall follows sequential structured phases. Agile focuses on iterative feedback and adaptability. Business Analysts adapt methodology based on project complexity.</a:t>
            </a:r>
          </a:p>
          <a:p>
            <a:endParaRPr lang="en-IN" sz="2000">
              <a:solidFill>
                <a:srgbClr val="E6E6E6"/>
              </a:solidFill>
              <a:latin typeface="Calibri" panose="020F0502020204030204" pitchFamily="34" charset="0"/>
            </a:endParaRPr>
          </a:p>
          <a:p>
            <a:r>
              <a:rPr lang="en-IN" sz="2000">
                <a:solidFill>
                  <a:srgbClr val="E6E6E6"/>
                </a:solidFill>
                <a:latin typeface="Calibri" panose="020F0502020204030204" pitchFamily="34" charset="0"/>
              </a:rPr>
              <a:t>• Waterfall structured linear development approach</a:t>
            </a:r>
          </a:p>
          <a:p>
            <a:r>
              <a:rPr lang="en-IN" sz="2000">
                <a:solidFill>
                  <a:srgbClr val="E6E6E6"/>
                </a:solidFill>
                <a:latin typeface="Calibri" panose="020F0502020204030204" pitchFamily="34" charset="0"/>
              </a:rPr>
              <a:t>• Agile iterative flexible rapid feedback model</a:t>
            </a:r>
          </a:p>
          <a:p>
            <a:r>
              <a:rPr lang="en-IN" sz="2000">
                <a:solidFill>
                  <a:srgbClr val="E6E6E6"/>
                </a:solidFill>
                <a:latin typeface="Calibri" panose="020F0502020204030204" pitchFamily="34" charset="0"/>
              </a:rPr>
              <a:t>• BA adapts methodology according to project needs</a:t>
            </a:r>
          </a:p>
        </p:txBody>
      </p:sp>
      <p:pic>
        <p:nvPicPr>
          <p:cNvPr id="4" name="Picture 3">
            <a:extLst>
              <a:ext uri="{FF2B5EF4-FFF2-40B4-BE49-F238E27FC236}">
                <a16:creationId xmlns:a16="http://schemas.microsoft.com/office/drawing/2014/main" id="{432C9CB9-AA10-5271-A2AB-4B9A03204194}"/>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426841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435F-5033-EFDF-4A30-FB8243CEF8BF}"/>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Stakeholder Management</a:t>
            </a:r>
          </a:p>
        </p:txBody>
      </p:sp>
      <p:sp>
        <p:nvSpPr>
          <p:cNvPr id="3" name="Text Placeholder 2">
            <a:extLst>
              <a:ext uri="{FF2B5EF4-FFF2-40B4-BE49-F238E27FC236}">
                <a16:creationId xmlns:a16="http://schemas.microsoft.com/office/drawing/2014/main" id="{F9EC69AB-B4F1-678E-29F7-18FE57AA8689}"/>
              </a:ext>
            </a:extLst>
          </p:cNvPr>
          <p:cNvSpPr>
            <a:spLocks noGrp="1"/>
          </p:cNvSpPr>
          <p:nvPr>
            <p:ph type="body" idx="1"/>
          </p:nvPr>
        </p:nvSpPr>
        <p:spPr/>
        <p:txBody>
          <a:bodyPr>
            <a:normAutofit/>
          </a:bodyPr>
          <a:lstStyle/>
          <a:p>
            <a:r>
              <a:rPr lang="en-IN" sz="2000">
                <a:solidFill>
                  <a:srgbClr val="E6E6E6"/>
                </a:solidFill>
                <a:latin typeface="Calibri" panose="020F0502020204030204" pitchFamily="34" charset="0"/>
              </a:rPr>
              <a:t>Identifying stakeholders ensures inclusive decision-making. Managing expectations reduces project risks. Tools like Power-Interest Grid improve stakeholder analysis.</a:t>
            </a:r>
          </a:p>
          <a:p>
            <a:endParaRPr lang="en-IN" sz="2000">
              <a:solidFill>
                <a:srgbClr val="E6E6E6"/>
              </a:solidFill>
              <a:latin typeface="Calibri" panose="020F0502020204030204" pitchFamily="34" charset="0"/>
            </a:endParaRPr>
          </a:p>
          <a:p>
            <a:r>
              <a:rPr lang="en-IN" sz="2000">
                <a:solidFill>
                  <a:srgbClr val="E6E6E6"/>
                </a:solidFill>
                <a:latin typeface="Calibri" panose="020F0502020204030204" pitchFamily="34" charset="0"/>
              </a:rPr>
              <a:t>• Identify stakeholders and analyze influence levels</a:t>
            </a:r>
          </a:p>
          <a:p>
            <a:r>
              <a:rPr lang="en-IN" sz="2000">
                <a:solidFill>
                  <a:srgbClr val="E6E6E6"/>
                </a:solidFill>
                <a:latin typeface="Calibri" panose="020F0502020204030204" pitchFamily="34" charset="0"/>
              </a:rPr>
              <a:t>• Manage expectations to reduce project risks</a:t>
            </a:r>
          </a:p>
          <a:p>
            <a:r>
              <a:rPr lang="en-IN" sz="2000">
                <a:solidFill>
                  <a:srgbClr val="E6E6E6"/>
                </a:solidFill>
                <a:latin typeface="Calibri" panose="020F0502020204030204" pitchFamily="34" charset="0"/>
              </a:rPr>
              <a:t>• Use structured mapping models for engagement</a:t>
            </a:r>
          </a:p>
        </p:txBody>
      </p:sp>
      <p:pic>
        <p:nvPicPr>
          <p:cNvPr id="4" name="Picture 3">
            <a:extLst>
              <a:ext uri="{FF2B5EF4-FFF2-40B4-BE49-F238E27FC236}">
                <a16:creationId xmlns:a16="http://schemas.microsoft.com/office/drawing/2014/main" id="{87C7FFC4-67E0-2989-9EE1-60108053D6E1}"/>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52327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D44E-037D-66D6-71E6-C403D2FD648C}"/>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Tools &amp; Techniques</a:t>
            </a:r>
          </a:p>
        </p:txBody>
      </p:sp>
      <p:sp>
        <p:nvSpPr>
          <p:cNvPr id="3" name="Text Placeholder 2">
            <a:extLst>
              <a:ext uri="{FF2B5EF4-FFF2-40B4-BE49-F238E27FC236}">
                <a16:creationId xmlns:a16="http://schemas.microsoft.com/office/drawing/2014/main" id="{CC2E6240-16FA-F6DB-BB88-D3126F58F7EC}"/>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Business Analysts rely on digital tools for requirement management and collaboration. Visualization platforms support reporting. Process mapping tools enhance workflow clarity.</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Requirement tools like JIRA and Confluence</a:t>
            </a:r>
          </a:p>
          <a:p>
            <a:r>
              <a:rPr lang="en-GB" sz="2000">
                <a:solidFill>
                  <a:srgbClr val="E6E6E6"/>
                </a:solidFill>
                <a:latin typeface="Calibri" panose="020F0502020204030204" pitchFamily="34" charset="0"/>
              </a:rPr>
              <a:t>• Analytics tools including Excel Tableau Python</a:t>
            </a:r>
          </a:p>
          <a:p>
            <a:r>
              <a:rPr lang="en-GB" sz="2000">
                <a:solidFill>
                  <a:srgbClr val="E6E6E6"/>
                </a:solidFill>
                <a:latin typeface="Calibri" panose="020F0502020204030204" pitchFamily="34" charset="0"/>
              </a:rPr>
              <a:t>• Process mapping using Visio or Lucidchart</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35727FAA-733B-B7DB-9371-0E72CA274705}"/>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51526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E5B8B-2BD1-1B75-86B5-CF342CB862A6}"/>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Value of Business Analysts</a:t>
            </a:r>
          </a:p>
        </p:txBody>
      </p:sp>
      <p:sp>
        <p:nvSpPr>
          <p:cNvPr id="3" name="Text Placeholder 2">
            <a:extLst>
              <a:ext uri="{FF2B5EF4-FFF2-40B4-BE49-F238E27FC236}">
                <a16:creationId xmlns:a16="http://schemas.microsoft.com/office/drawing/2014/main" id="{08721F25-02BB-1A0C-4A1D-68AB1ED48D84}"/>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Business Analysts play a critical role in improving operational efficiency and profitability. They analyze workflows, identify gaps, and recommend optimized solutions aligned with business objectives. Their contribution ensures that IT investments deliver measurable value and long-term sustainability.</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Drives efficiency through structured requirement management</a:t>
            </a:r>
          </a:p>
          <a:p>
            <a:r>
              <a:rPr lang="en-GB" sz="2000">
                <a:solidFill>
                  <a:srgbClr val="E6E6E6"/>
                </a:solidFill>
                <a:latin typeface="Calibri" panose="020F0502020204030204" pitchFamily="34" charset="0"/>
              </a:rPr>
              <a:t>• Aligns IT solutions with business strategy</a:t>
            </a:r>
          </a:p>
          <a:p>
            <a:r>
              <a:rPr lang="en-GB" sz="2000">
                <a:solidFill>
                  <a:srgbClr val="E6E6E6"/>
                </a:solidFill>
                <a:latin typeface="Calibri" panose="020F0502020204030204" pitchFamily="34" charset="0"/>
              </a:rPr>
              <a:t>• Supports innovation and continuous improvement</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5563127E-B9D8-5A13-FD95-A86ABA788B4D}"/>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53082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67297-59A4-EFA6-6ADA-B2ACACE6F476}"/>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Data vs Information</a:t>
            </a:r>
          </a:p>
        </p:txBody>
      </p:sp>
      <p:sp>
        <p:nvSpPr>
          <p:cNvPr id="3" name="Text Placeholder 2">
            <a:extLst>
              <a:ext uri="{FF2B5EF4-FFF2-40B4-BE49-F238E27FC236}">
                <a16:creationId xmlns:a16="http://schemas.microsoft.com/office/drawing/2014/main" id="{AC0B7649-9BD5-C5FC-9738-E29E05B16958}"/>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 consists of raw, unprocessed facts without context. Information is the result of processing and organizing data to provide meaning and insight. This transformation enables better understanding, strategic thinking, and informed decision-making.</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Data raw unprocessed factual elements</a:t>
            </a:r>
          </a:p>
          <a:p>
            <a:r>
              <a:rPr lang="en-GB" sz="2000">
                <a:solidFill>
                  <a:srgbClr val="E6E6E6"/>
                </a:solidFill>
                <a:latin typeface="Calibri" panose="020F0502020204030204" pitchFamily="34" charset="0"/>
              </a:rPr>
              <a:t>• Information contextualized meaningful analytical output</a:t>
            </a:r>
          </a:p>
          <a:p>
            <a:r>
              <a:rPr lang="en-GB" sz="2000">
                <a:solidFill>
                  <a:srgbClr val="E6E6E6"/>
                </a:solidFill>
                <a:latin typeface="Calibri" panose="020F0502020204030204" pitchFamily="34" charset="0"/>
              </a:rPr>
              <a:t>• Context transforms data into knowledge</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55BAE97E-2DF7-2BE8-22A1-962F0D4537ED}"/>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96014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47D6-D60B-4672-A764-7584127BEE5F}"/>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What is Data?</a:t>
            </a:r>
          </a:p>
        </p:txBody>
      </p:sp>
      <p:sp>
        <p:nvSpPr>
          <p:cNvPr id="3" name="Text Placeholder 2">
            <a:extLst>
              <a:ext uri="{FF2B5EF4-FFF2-40B4-BE49-F238E27FC236}">
                <a16:creationId xmlns:a16="http://schemas.microsoft.com/office/drawing/2014/main" id="{CF699B17-D47C-71D7-3823-9B37FB586B31}"/>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 represents numbers, text, symbols, images, or multimedia files collected from various sources. On its own, data lacks context and meaning. It must be validated, cleaned, and structured before it becomes valuable for analysis.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Raw numerical textual or multimedia elements</a:t>
            </a:r>
          </a:p>
          <a:p>
            <a:r>
              <a:rPr lang="en-GB" sz="2000">
                <a:solidFill>
                  <a:srgbClr val="E6E6E6"/>
                </a:solidFill>
                <a:latin typeface="Calibri" panose="020F0502020204030204" pitchFamily="34" charset="0"/>
              </a:rPr>
              <a:t>• Lacks interpretation and meaningful structure</a:t>
            </a:r>
          </a:p>
          <a:p>
            <a:r>
              <a:rPr lang="en-GB" sz="2000">
                <a:solidFill>
                  <a:srgbClr val="E6E6E6"/>
                </a:solidFill>
                <a:latin typeface="Calibri" panose="020F0502020204030204" pitchFamily="34" charset="0"/>
              </a:rPr>
              <a:t>• Requires processing for analytical value</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73CF6D23-F4F8-8E76-D82F-AC64C3C618AE}"/>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661000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8CD4C-A881-946A-5FA6-86EC828919E2}"/>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What is Information?</a:t>
            </a:r>
          </a:p>
        </p:txBody>
      </p:sp>
      <p:sp>
        <p:nvSpPr>
          <p:cNvPr id="3" name="Text Placeholder 2">
            <a:extLst>
              <a:ext uri="{FF2B5EF4-FFF2-40B4-BE49-F238E27FC236}">
                <a16:creationId xmlns:a16="http://schemas.microsoft.com/office/drawing/2014/main" id="{1EAD45F1-4356-4302-0EFA-65D7078EE70E}"/>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Information is processed and organized data presented in a meaningful way. It provides insights that support managerial, operational, and strategic decisions. Properly structured information reduces uncertainty and enhances competitive advantage.</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Organized processed data with clear context</a:t>
            </a:r>
          </a:p>
          <a:p>
            <a:r>
              <a:rPr lang="en-GB" sz="2000">
                <a:solidFill>
                  <a:srgbClr val="E6E6E6"/>
                </a:solidFill>
                <a:latin typeface="Calibri" panose="020F0502020204030204" pitchFamily="34" charset="0"/>
              </a:rPr>
              <a:t>• Supports decision-making and strategic planning</a:t>
            </a:r>
          </a:p>
          <a:p>
            <a:r>
              <a:rPr lang="en-GB" sz="2000">
                <a:solidFill>
                  <a:srgbClr val="E6E6E6"/>
                </a:solidFill>
                <a:latin typeface="Calibri" panose="020F0502020204030204" pitchFamily="34" charset="0"/>
              </a:rPr>
              <a:t>• Reduces uncertainty in competitive markets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7333FDC6-2659-6BFF-9B22-FF26C346C10A}"/>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16745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22CE6-3A96-1517-47D7-5ACF6880FD86}"/>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Data to Information Transformation</a:t>
            </a:r>
          </a:p>
        </p:txBody>
      </p:sp>
      <p:sp>
        <p:nvSpPr>
          <p:cNvPr id="3" name="Text Placeholder 2">
            <a:extLst>
              <a:ext uri="{FF2B5EF4-FFF2-40B4-BE49-F238E27FC236}">
                <a16:creationId xmlns:a16="http://schemas.microsoft.com/office/drawing/2014/main" id="{D81DCEDA-9913-B5D8-7EC2-5F1BDB222AA0}"/>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The transformation from data to information involves systematic collection, cleaning, processing, analysis, and interpretation. Business intelligence tools convert raw input into dashboards, reports, and visual insights that guide strategic planning.</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Collection cleaning processing interpretation stages</a:t>
            </a:r>
          </a:p>
          <a:p>
            <a:r>
              <a:rPr lang="en-GB" sz="2000">
                <a:solidFill>
                  <a:srgbClr val="E6E6E6"/>
                </a:solidFill>
                <a:latin typeface="Calibri" panose="020F0502020204030204" pitchFamily="34" charset="0"/>
              </a:rPr>
              <a:t>• Analytics tools generate dashboards and reports</a:t>
            </a:r>
          </a:p>
          <a:p>
            <a:r>
              <a:rPr lang="en-GB" sz="2000">
                <a:solidFill>
                  <a:srgbClr val="E6E6E6"/>
                </a:solidFill>
                <a:latin typeface="Calibri" panose="020F0502020204030204" pitchFamily="34" charset="0"/>
              </a:rPr>
              <a:t>• Insights guide evidence-based business decisions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AEA9574C-C7D0-205B-F2A4-F47C5F6DB8A6}"/>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75687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420EB-F272-A3BA-14E3-31372CE836A8}"/>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Importance of Information</a:t>
            </a:r>
          </a:p>
        </p:txBody>
      </p:sp>
      <p:sp>
        <p:nvSpPr>
          <p:cNvPr id="3" name="Text Placeholder 2">
            <a:extLst>
              <a:ext uri="{FF2B5EF4-FFF2-40B4-BE49-F238E27FC236}">
                <a16:creationId xmlns:a16="http://schemas.microsoft.com/office/drawing/2014/main" id="{F0D2190E-32CD-4A38-CAC5-7BA1992C5F2F}"/>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Accurate and timely information improves forecasting accuracy and planning effectiveness. It enhances performance measurement and monitoring systems. Organizations that leverage quality information gain competitive advantage and long-term growth.</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Improves forecasting accuracy and performance tracking</a:t>
            </a:r>
          </a:p>
          <a:p>
            <a:r>
              <a:rPr lang="en-GB" sz="2000">
                <a:solidFill>
                  <a:srgbClr val="E6E6E6"/>
                </a:solidFill>
                <a:latin typeface="Calibri" panose="020F0502020204030204" pitchFamily="34" charset="0"/>
              </a:rPr>
              <a:t>• Enhances operational and strategic planning</a:t>
            </a:r>
          </a:p>
          <a:p>
            <a:r>
              <a:rPr lang="en-GB" sz="2000">
                <a:solidFill>
                  <a:srgbClr val="E6E6E6"/>
                </a:solidFill>
                <a:latin typeface="Calibri" panose="020F0502020204030204" pitchFamily="34" charset="0"/>
              </a:rPr>
              <a:t>• Strengthens competitive positioning</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8E2D6D0E-A921-BD6F-8AE9-E35F92F530B6}"/>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902598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BCDE1-8F6C-31C6-4378-AC678870D313}"/>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Data vs Information Comparison</a:t>
            </a:r>
          </a:p>
        </p:txBody>
      </p:sp>
      <p:sp>
        <p:nvSpPr>
          <p:cNvPr id="3" name="Text Placeholder 2">
            <a:extLst>
              <a:ext uri="{FF2B5EF4-FFF2-40B4-BE49-F238E27FC236}">
                <a16:creationId xmlns:a16="http://schemas.microsoft.com/office/drawing/2014/main" id="{B85F48DC-15B5-407A-281F-030C6D0B42B9}"/>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 is unorganized and lacks contextual meaning, whereas information is structured, interpreted, and actionable. The presence of context and relevance clearly differentiates these two concepts in business environments.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Data raw lacks contextual meaning</a:t>
            </a:r>
          </a:p>
          <a:p>
            <a:r>
              <a:rPr lang="en-GB" sz="2000">
                <a:solidFill>
                  <a:srgbClr val="E6E6E6"/>
                </a:solidFill>
                <a:latin typeface="Calibri" panose="020F0502020204030204" pitchFamily="34" charset="0"/>
              </a:rPr>
              <a:t>• Information processed contextual actionable insights</a:t>
            </a:r>
          </a:p>
          <a:p>
            <a:r>
              <a:rPr lang="en-GB" sz="2000">
                <a:solidFill>
                  <a:srgbClr val="E6E6E6"/>
                </a:solidFill>
                <a:latin typeface="Calibri" panose="020F0502020204030204" pitchFamily="34" charset="0"/>
              </a:rPr>
              <a:t>• Context determines transformation effectiveness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C25D2185-3E71-37FF-AE6B-89F3D5B81982}"/>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20665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FBE2E-DEDD-0768-69D0-95EDA1D575E8}"/>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Overview of DDDM</a:t>
            </a:r>
          </a:p>
        </p:txBody>
      </p:sp>
      <p:sp>
        <p:nvSpPr>
          <p:cNvPr id="3" name="Text Placeholder 2">
            <a:extLst>
              <a:ext uri="{FF2B5EF4-FFF2-40B4-BE49-F238E27FC236}">
                <a16:creationId xmlns:a16="http://schemas.microsoft.com/office/drawing/2014/main" id="{BF5F02EB-046D-66C1-9E56-376D0445691F}"/>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Data-Driven Decision Making (DDDM) focuses on using measurable evidence instead of intuition. It strengthens accountability and transparency within organizations. By fostering analytical culture, DDDM enhances strategic accuracy.</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Decisions guided by measurable data insights</a:t>
            </a:r>
          </a:p>
          <a:p>
            <a:r>
              <a:rPr lang="en-GB" sz="2000">
                <a:solidFill>
                  <a:srgbClr val="E6E6E6"/>
                </a:solidFill>
                <a:latin typeface="Calibri" panose="020F0502020204030204" pitchFamily="34" charset="0"/>
              </a:rPr>
              <a:t>• Reduces bias and subjective judgment</a:t>
            </a:r>
          </a:p>
          <a:p>
            <a:r>
              <a:rPr lang="en-GB" sz="2000">
                <a:solidFill>
                  <a:srgbClr val="E6E6E6"/>
                </a:solidFill>
                <a:latin typeface="Calibri" panose="020F0502020204030204" pitchFamily="34" charset="0"/>
              </a:rPr>
              <a:t>• Promotes culture of analytical thinking</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F72675F4-9346-2CF5-F2AD-6561B9375A54}"/>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03219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2430D-D2A1-C6CB-85E6-55FD9BCC85CD}"/>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What is DDDM?</a:t>
            </a:r>
          </a:p>
        </p:txBody>
      </p:sp>
      <p:sp>
        <p:nvSpPr>
          <p:cNvPr id="3" name="Text Placeholder 2">
            <a:extLst>
              <a:ext uri="{FF2B5EF4-FFF2-40B4-BE49-F238E27FC236}">
                <a16:creationId xmlns:a16="http://schemas.microsoft.com/office/drawing/2014/main" id="{2E236275-245E-403A-BEFB-C75E5A4BC60B}"/>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DDDM integrates analytics tools and performance metrics into strategic management processes. It supports real-time monitoring, forecasting, and evaluation. Organizations become more agile and responsive when decisions are data-driven.</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Uses dashboards and analytics platforms</a:t>
            </a:r>
          </a:p>
          <a:p>
            <a:r>
              <a:rPr lang="en-GB" sz="2000">
                <a:solidFill>
                  <a:srgbClr val="E6E6E6"/>
                </a:solidFill>
                <a:latin typeface="Calibri" panose="020F0502020204030204" pitchFamily="34" charset="0"/>
              </a:rPr>
              <a:t>• Supports measurable performance evaluation</a:t>
            </a:r>
          </a:p>
          <a:p>
            <a:r>
              <a:rPr lang="en-GB" sz="2000">
                <a:solidFill>
                  <a:srgbClr val="E6E6E6"/>
                </a:solidFill>
                <a:latin typeface="Calibri" panose="020F0502020204030204" pitchFamily="34" charset="0"/>
              </a:rPr>
              <a:t>• Enhances organizational agility and responsiveness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9141579E-C9BE-C16A-9046-647F80935806}"/>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91034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E8A3-9564-A07E-5D18-CA51F038F15E}"/>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Benefits of DDDM</a:t>
            </a:r>
          </a:p>
        </p:txBody>
      </p:sp>
      <p:sp>
        <p:nvSpPr>
          <p:cNvPr id="3" name="Text Placeholder 2">
            <a:extLst>
              <a:ext uri="{FF2B5EF4-FFF2-40B4-BE49-F238E27FC236}">
                <a16:creationId xmlns:a16="http://schemas.microsoft.com/office/drawing/2014/main" id="{C97F6508-C439-152F-491B-16BABCCF14C6}"/>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Data-driven approaches improve accuracy, efficiency, and innovation across departments. They enhance customer understanding and support proactive decision-making. Organizations gain sustainable competitive advantage.</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Improves accuracy through reliable evidence</a:t>
            </a:r>
          </a:p>
          <a:p>
            <a:r>
              <a:rPr lang="en-GB" sz="2000">
                <a:solidFill>
                  <a:srgbClr val="E6E6E6"/>
                </a:solidFill>
                <a:latin typeface="Calibri" panose="020F0502020204030204" pitchFamily="34" charset="0"/>
              </a:rPr>
              <a:t>• Enhances efficiency across operations</a:t>
            </a:r>
          </a:p>
          <a:p>
            <a:r>
              <a:rPr lang="en-GB" sz="2000">
                <a:solidFill>
                  <a:srgbClr val="E6E6E6"/>
                </a:solidFill>
                <a:latin typeface="Calibri" panose="020F0502020204030204" pitchFamily="34" charset="0"/>
              </a:rPr>
              <a:t>• Supports innovation and customer focus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EA470E7A-712A-3848-D02B-DE8871B0563D}"/>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19118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CEAB0-00D5-E5F2-B0F8-318F58ED1C93}"/>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Key Steps in DDDM</a:t>
            </a:r>
          </a:p>
        </p:txBody>
      </p:sp>
      <p:sp>
        <p:nvSpPr>
          <p:cNvPr id="3" name="Text Placeholder 2">
            <a:extLst>
              <a:ext uri="{FF2B5EF4-FFF2-40B4-BE49-F238E27FC236}">
                <a16:creationId xmlns:a16="http://schemas.microsoft.com/office/drawing/2014/main" id="{E0E8F6E9-34B3-CE2F-0339-CFBEF82711A0}"/>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The DDDM process includes data collection, cleaning, analysis, interpretation, and action. Each stage ensures reliability and relevance. Continuous monitoring helps refine strategies and improve outcomes.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Collect clean analyze interpret and act sequentially</a:t>
            </a:r>
          </a:p>
          <a:p>
            <a:r>
              <a:rPr lang="en-GB" sz="2000">
                <a:solidFill>
                  <a:srgbClr val="E6E6E6"/>
                </a:solidFill>
                <a:latin typeface="Calibri" panose="020F0502020204030204" pitchFamily="34" charset="0"/>
              </a:rPr>
              <a:t>• Use BI dashboards for structured reporting</a:t>
            </a:r>
          </a:p>
          <a:p>
            <a:r>
              <a:rPr lang="en-GB" sz="2000">
                <a:solidFill>
                  <a:srgbClr val="E6E6E6"/>
                </a:solidFill>
                <a:latin typeface="Calibri" panose="020F0502020204030204" pitchFamily="34" charset="0"/>
              </a:rPr>
              <a:t>• Monitor results and refine strategies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55358AF1-F3C6-CC5B-8DBE-88B75CCD09E6}"/>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95512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3078B-4B4B-F580-DDD1-93EAAC4C005D}"/>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Common Pitfalls in DDDM</a:t>
            </a:r>
          </a:p>
        </p:txBody>
      </p:sp>
      <p:sp>
        <p:nvSpPr>
          <p:cNvPr id="3" name="Text Placeholder 2">
            <a:extLst>
              <a:ext uri="{FF2B5EF4-FFF2-40B4-BE49-F238E27FC236}">
                <a16:creationId xmlns:a16="http://schemas.microsoft.com/office/drawing/2014/main" id="{BB5B3E4C-5926-4717-DE72-EAE9946A3A91}"/>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Poor data quality and incomplete datasets can lead to incorrect conclusions. Over-reliance on numbers without context increases risk. Lack of skilled analysts reduces the effectiveness of decision-making.</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Poor data quality leads misleading conclusions</a:t>
            </a:r>
          </a:p>
          <a:p>
            <a:r>
              <a:rPr lang="en-GB" sz="2000">
                <a:solidFill>
                  <a:srgbClr val="E6E6E6"/>
                </a:solidFill>
                <a:latin typeface="Calibri" panose="020F0502020204030204" pitchFamily="34" charset="0"/>
              </a:rPr>
              <a:t>• Ignoring context increases strategic risk</a:t>
            </a:r>
          </a:p>
          <a:p>
            <a:r>
              <a:rPr lang="en-GB" sz="2000">
                <a:solidFill>
                  <a:srgbClr val="E6E6E6"/>
                </a:solidFill>
                <a:latin typeface="Calibri" panose="020F0502020204030204" pitchFamily="34" charset="0"/>
              </a:rPr>
              <a:t>• Lack of expertise limits analytical potential</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49C23282-9C92-13F1-C6F0-3B700530ACE2}"/>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416478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E7022-DCFC-7CA0-3197-A541268E2931}"/>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Role of Business Analytics Tools</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904BC8ED-6BEB-4DF4-EC84-176937819DBE}"/>
              </a:ext>
            </a:extLst>
          </p:cNvPr>
          <p:cNvSpPr>
            <a:spLocks noGrp="1"/>
          </p:cNvSpPr>
          <p:nvPr>
            <p:ph type="body" idx="1"/>
          </p:nvPr>
        </p:nvSpPr>
        <p:spPr/>
        <p:txBody>
          <a:bodyPr>
            <a:normAutofit/>
          </a:bodyPr>
          <a:lstStyle/>
          <a:p>
            <a:r>
              <a:rPr lang="en-IN" sz="2000">
                <a:solidFill>
                  <a:srgbClr val="E6E6E6"/>
                </a:solidFill>
                <a:latin typeface="Calibri" panose="020F0502020204030204" pitchFamily="34" charset="0"/>
              </a:rPr>
              <a:t>Business analytics tools transform complex datasets into visual insights. Platforms like Tableau and Power BI simplify reporting, while Python and R enable predictive modeling. Real-time analytics supports faster and smarter decisions.</a:t>
            </a:r>
          </a:p>
          <a:p>
            <a:endParaRPr lang="en-IN" sz="2000">
              <a:solidFill>
                <a:srgbClr val="E6E6E6"/>
              </a:solidFill>
              <a:latin typeface="Calibri" panose="020F0502020204030204" pitchFamily="34" charset="0"/>
            </a:endParaRPr>
          </a:p>
          <a:p>
            <a:r>
              <a:rPr lang="en-IN" sz="2000">
                <a:solidFill>
                  <a:srgbClr val="E6E6E6"/>
                </a:solidFill>
                <a:latin typeface="Calibri" panose="020F0502020204030204" pitchFamily="34" charset="0"/>
              </a:rPr>
              <a:t>• Visualization tools improve clarity and insight</a:t>
            </a:r>
          </a:p>
          <a:p>
            <a:r>
              <a:rPr lang="en-IN" sz="2000">
                <a:solidFill>
                  <a:srgbClr val="E6E6E6"/>
                </a:solidFill>
                <a:latin typeface="Calibri" panose="020F0502020204030204" pitchFamily="34" charset="0"/>
              </a:rPr>
              <a:t>• Predictive modeling forecasts future outcomes</a:t>
            </a:r>
          </a:p>
          <a:p>
            <a:r>
              <a:rPr lang="en-IN" sz="2000">
                <a:solidFill>
                  <a:srgbClr val="E6E6E6"/>
                </a:solidFill>
                <a:latin typeface="Calibri" panose="020F0502020204030204" pitchFamily="34" charset="0"/>
              </a:rPr>
              <a:t>• Real-time analytics enhances responsiveness</a:t>
            </a:r>
          </a:p>
        </p:txBody>
      </p:sp>
      <p:pic>
        <p:nvPicPr>
          <p:cNvPr id="4" name="Picture 3">
            <a:extLst>
              <a:ext uri="{FF2B5EF4-FFF2-40B4-BE49-F238E27FC236}">
                <a16:creationId xmlns:a16="http://schemas.microsoft.com/office/drawing/2014/main" id="{F7876417-2930-B2FD-143A-F0AE7F384F17}"/>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43566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7F0D6-383D-D131-7B35-F35EBF3B5FDC}"/>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Strategic Impact of DDDM</a:t>
            </a:r>
          </a:p>
        </p:txBody>
      </p:sp>
      <p:sp>
        <p:nvSpPr>
          <p:cNvPr id="3" name="Text Placeholder 2">
            <a:extLst>
              <a:ext uri="{FF2B5EF4-FFF2-40B4-BE49-F238E27FC236}">
                <a16:creationId xmlns:a16="http://schemas.microsoft.com/office/drawing/2014/main" id="{B8DBB0A1-4714-1223-5A78-A55A0A73336C}"/>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DDDM creates measurable competitive advantage by aligning analytics with business goals. It strengthens performance optimization and supports innovation. Organizations build continuous improvement culture.</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Drives measurable competitive business advantage</a:t>
            </a:r>
          </a:p>
          <a:p>
            <a:r>
              <a:rPr lang="en-GB" sz="2000">
                <a:solidFill>
                  <a:srgbClr val="E6E6E6"/>
                </a:solidFill>
                <a:latin typeface="Calibri" panose="020F0502020204030204" pitchFamily="34" charset="0"/>
              </a:rPr>
              <a:t>• Aligns IT investments with strategic priorities</a:t>
            </a:r>
          </a:p>
          <a:p>
            <a:r>
              <a:rPr lang="en-GB" sz="2000">
                <a:solidFill>
                  <a:srgbClr val="E6E6E6"/>
                </a:solidFill>
                <a:latin typeface="Calibri" panose="020F0502020204030204" pitchFamily="34" charset="0"/>
              </a:rPr>
              <a:t>• Encourages continuous performance optimization</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BA6465F9-1DA4-B987-0BA9-3D7A68CAA6A7}"/>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99268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AFD9F-225E-8FC1-90C8-28E8160966E7}"/>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Scenario Analysis Overview</a:t>
            </a:r>
          </a:p>
        </p:txBody>
      </p:sp>
      <p:sp>
        <p:nvSpPr>
          <p:cNvPr id="3" name="Text Placeholder 2">
            <a:extLst>
              <a:ext uri="{FF2B5EF4-FFF2-40B4-BE49-F238E27FC236}">
                <a16:creationId xmlns:a16="http://schemas.microsoft.com/office/drawing/2014/main" id="{D3DB6D07-9A1A-C23C-FAF0-0C1A58BE93C2}"/>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Scenario analysis evaluates multiple possible future outcomes. It supports risk assessment, contingency planning, and resilience strategies. Organizations prepare effectively for uncertainty.</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Evaluates best base worst case scenarios</a:t>
            </a:r>
          </a:p>
          <a:p>
            <a:r>
              <a:rPr lang="en-GB" sz="2000">
                <a:solidFill>
                  <a:srgbClr val="E6E6E6"/>
                </a:solidFill>
                <a:latin typeface="Calibri" panose="020F0502020204030204" pitchFamily="34" charset="0"/>
              </a:rPr>
              <a:t>• Supports strategic risk assessment planning</a:t>
            </a:r>
          </a:p>
          <a:p>
            <a:r>
              <a:rPr lang="en-GB" sz="2000">
                <a:solidFill>
                  <a:srgbClr val="E6E6E6"/>
                </a:solidFill>
                <a:latin typeface="Calibri" panose="020F0502020204030204" pitchFamily="34" charset="0"/>
              </a:rPr>
              <a:t>• Improves resilience and adaptability</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871EBA5E-E9F6-2F1B-C655-ACBE31DD6F11}"/>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69335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FFC9F-DDB3-7450-09A2-8BC3E86D880C}"/>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What is Scenario Analysis?</a:t>
            </a:r>
          </a:p>
        </p:txBody>
      </p:sp>
      <p:sp>
        <p:nvSpPr>
          <p:cNvPr id="3" name="Text Placeholder 2">
            <a:extLst>
              <a:ext uri="{FF2B5EF4-FFF2-40B4-BE49-F238E27FC236}">
                <a16:creationId xmlns:a16="http://schemas.microsoft.com/office/drawing/2014/main" id="{8BF3FFAF-1E98-AA8E-BEC7-591BD519A959}"/>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Scenario analysis uses statistical models, simulations, and forecasting tools to predict potential financial or operational outcomes. It enhances the reliability of strategic planning decisions.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Uses simulations and statistical modeling</a:t>
            </a:r>
          </a:p>
          <a:p>
            <a:r>
              <a:rPr lang="en-GB" sz="2000">
                <a:solidFill>
                  <a:srgbClr val="E6E6E6"/>
                </a:solidFill>
                <a:latin typeface="Calibri" panose="020F0502020204030204" pitchFamily="34" charset="0"/>
              </a:rPr>
              <a:t>• Forecasts portfolio and strategic outcomes</a:t>
            </a:r>
          </a:p>
          <a:p>
            <a:r>
              <a:rPr lang="en-GB" sz="2000">
                <a:solidFill>
                  <a:srgbClr val="E6E6E6"/>
                </a:solidFill>
                <a:latin typeface="Calibri" panose="020F0502020204030204" pitchFamily="34" charset="0"/>
              </a:rPr>
              <a:t>• Enhances reliability of planning decisions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81B48009-7B08-B83D-D5C8-DCF839C4D071}"/>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47796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29E8D-F5A3-8C8C-445F-EED9B3F0D956}"/>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Role in DDDM</a:t>
            </a:r>
          </a:p>
        </p:txBody>
      </p:sp>
      <p:sp>
        <p:nvSpPr>
          <p:cNvPr id="3" name="Text Placeholder 2">
            <a:extLst>
              <a:ext uri="{FF2B5EF4-FFF2-40B4-BE49-F238E27FC236}">
                <a16:creationId xmlns:a16="http://schemas.microsoft.com/office/drawing/2014/main" id="{2DEDB2E4-F291-1207-F015-96BB7F32A6ED}"/>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Within DDDM frameworks, scenario analysis provides structured what-if evaluation. It supports managers and investors in risk management. Accuracy depends on high-quality data and assumptions.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Enables structured what-if evaluation</a:t>
            </a:r>
          </a:p>
          <a:p>
            <a:r>
              <a:rPr lang="en-GB" sz="2000">
                <a:solidFill>
                  <a:srgbClr val="E6E6E6"/>
                </a:solidFill>
                <a:latin typeface="Calibri" panose="020F0502020204030204" pitchFamily="34" charset="0"/>
              </a:rPr>
              <a:t>• Supports risk management and stress testing</a:t>
            </a:r>
          </a:p>
          <a:p>
            <a:r>
              <a:rPr lang="en-GB" sz="2000">
                <a:solidFill>
                  <a:srgbClr val="E6E6E6"/>
                </a:solidFill>
                <a:latin typeface="Calibri" panose="020F0502020204030204" pitchFamily="34" charset="0"/>
              </a:rPr>
              <a:t>• Depends on high-quality input data</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C01DB671-048C-FE27-0DE9-D37F39D69927}"/>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45318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4382E-4409-A09C-2848-D817CF463D2A}"/>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Introduction to Data Governance &amp; Ethics</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80AE9A72-577A-D9C5-4785-A8E2EF5F3F00}"/>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 governance establishes policies, roles, and accountability for managing data assets. Data ethics ensures responsible and fair usage. Together they create trust and transparency.</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Governance defines structure accountability compliance</a:t>
            </a:r>
          </a:p>
          <a:p>
            <a:r>
              <a:rPr lang="en-GB" sz="2000">
                <a:solidFill>
                  <a:srgbClr val="E6E6E6"/>
                </a:solidFill>
                <a:latin typeface="Calibri" panose="020F0502020204030204" pitchFamily="34" charset="0"/>
              </a:rPr>
              <a:t>• Ethics ensures fairness transparency responsibility</a:t>
            </a:r>
          </a:p>
          <a:p>
            <a:r>
              <a:rPr lang="en-GB" sz="2000">
                <a:solidFill>
                  <a:srgbClr val="E6E6E6"/>
                </a:solidFill>
                <a:latin typeface="Calibri" panose="020F0502020204030204" pitchFamily="34" charset="0"/>
              </a:rPr>
              <a:t>• Together build trusted data culture</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7D772D36-EFEB-636E-382D-F96B32D003F9}"/>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48561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16F3-4A1E-BAC0-C2B8-B678D522826A}"/>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What is Data Governance?</a:t>
            </a:r>
          </a:p>
        </p:txBody>
      </p:sp>
      <p:sp>
        <p:nvSpPr>
          <p:cNvPr id="3" name="Text Placeholder 2">
            <a:extLst>
              <a:ext uri="{FF2B5EF4-FFF2-40B4-BE49-F238E27FC236}">
                <a16:creationId xmlns:a16="http://schemas.microsoft.com/office/drawing/2014/main" id="{09E409E7-ECB8-0B7D-1895-2E23D4446528}"/>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Data governance manages data availability, usability, integrity, and security. It establishes ownership, stewardship roles, and quality standards. Strong governance ensures compliance and accountability.</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Framework managing availability usability security</a:t>
            </a:r>
          </a:p>
          <a:p>
            <a:r>
              <a:rPr lang="en-GB" sz="2000">
                <a:solidFill>
                  <a:srgbClr val="E6E6E6"/>
                </a:solidFill>
                <a:latin typeface="Calibri" panose="020F0502020204030204" pitchFamily="34" charset="0"/>
              </a:rPr>
              <a:t>• Defines ownership stewardship responsibilities</a:t>
            </a:r>
          </a:p>
          <a:p>
            <a:r>
              <a:rPr lang="en-GB" sz="2000">
                <a:solidFill>
                  <a:srgbClr val="E6E6E6"/>
                </a:solidFill>
                <a:latin typeface="Calibri" panose="020F0502020204030204" pitchFamily="34" charset="0"/>
              </a:rPr>
              <a:t>• Ensures regulatory compliance and accountability</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FC08990A-14CB-3ABC-07D9-730137902044}"/>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6694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292BD-A035-9534-882E-E8793AE6CD79}"/>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Importance of Data Governance</a:t>
            </a:r>
          </a:p>
        </p:txBody>
      </p:sp>
      <p:sp>
        <p:nvSpPr>
          <p:cNvPr id="3" name="Text Placeholder 2">
            <a:extLst>
              <a:ext uri="{FF2B5EF4-FFF2-40B4-BE49-F238E27FC236}">
                <a16:creationId xmlns:a16="http://schemas.microsoft.com/office/drawing/2014/main" id="{73C366EC-AAA6-A9C7-2B82-D52F99BF9085}"/>
              </a:ext>
            </a:extLst>
          </p:cNvPr>
          <p:cNvSpPr>
            <a:spLocks noGrp="1"/>
          </p:cNvSpPr>
          <p:nvPr>
            <p:ph type="body" idx="1"/>
          </p:nvPr>
        </p:nvSpPr>
        <p:spPr/>
        <p:txBody>
          <a:bodyPr>
            <a:normAutofit/>
          </a:bodyPr>
          <a:lstStyle/>
          <a:p>
            <a:r>
              <a:rPr lang="en-GB" sz="2000">
                <a:solidFill>
                  <a:srgbClr val="E6E6E6"/>
                </a:solidFill>
                <a:latin typeface="Calibri" panose="020F0502020204030204" pitchFamily="34" charset="0"/>
              </a:rPr>
              <a:t>Reliable and high-quality data improves decision-making accuracy. Governance frameworks prevent misuse and reduce regulatory penalties. They also protect organizations from data breaches and security risks.</a:t>
            </a:r>
          </a:p>
          <a:p>
            <a:endParaRPr lang="en-GB" sz="2000">
              <a:solidFill>
                <a:srgbClr val="E6E6E6"/>
              </a:solidFill>
              <a:latin typeface="Calibri" panose="020F0502020204030204" pitchFamily="34" charset="0"/>
            </a:endParaRPr>
          </a:p>
          <a:p>
            <a:r>
              <a:rPr lang="en-GB" sz="2000">
                <a:solidFill>
                  <a:srgbClr val="E6E6E6"/>
                </a:solidFill>
                <a:latin typeface="Calibri" panose="020F0502020204030204" pitchFamily="34" charset="0"/>
              </a:rPr>
              <a:t>• Ensures reliable high-quality business data</a:t>
            </a:r>
          </a:p>
          <a:p>
            <a:r>
              <a:rPr lang="en-GB" sz="2000">
                <a:solidFill>
                  <a:srgbClr val="E6E6E6"/>
                </a:solidFill>
                <a:latin typeface="Calibri" panose="020F0502020204030204" pitchFamily="34" charset="0"/>
              </a:rPr>
              <a:t>• Prevents misuse and regulatory penalties</a:t>
            </a:r>
          </a:p>
          <a:p>
            <a:r>
              <a:rPr lang="en-GB" sz="2000">
                <a:solidFill>
                  <a:srgbClr val="E6E6E6"/>
                </a:solidFill>
                <a:latin typeface="Calibri" panose="020F0502020204030204" pitchFamily="34" charset="0"/>
              </a:rPr>
              <a:t>• Protects against security breaches</a:t>
            </a:r>
            <a:endParaRPr lang="en-IN" sz="2000">
              <a:solidFill>
                <a:srgbClr val="E6E6E6"/>
              </a:solidFill>
              <a:latin typeface="Calibri" panose="020F0502020204030204" pitchFamily="34" charset="0"/>
            </a:endParaRPr>
          </a:p>
        </p:txBody>
      </p:sp>
      <p:pic>
        <p:nvPicPr>
          <p:cNvPr id="4" name="Picture 3">
            <a:extLst>
              <a:ext uri="{FF2B5EF4-FFF2-40B4-BE49-F238E27FC236}">
                <a16:creationId xmlns:a16="http://schemas.microsoft.com/office/drawing/2014/main" id="{8CDB199D-8186-67EB-F5F5-1338369B252A}"/>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632470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A332-E693-A91D-86EB-E7C9300AE172}"/>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Core Components</a:t>
            </a:r>
          </a:p>
        </p:txBody>
      </p:sp>
      <p:sp>
        <p:nvSpPr>
          <p:cNvPr id="3" name="Text Placeholder 2">
            <a:extLst>
              <a:ext uri="{FF2B5EF4-FFF2-40B4-BE49-F238E27FC236}">
                <a16:creationId xmlns:a16="http://schemas.microsoft.com/office/drawing/2014/main" id="{374225AC-673A-DA83-8D32-E6F97D4BA07F}"/>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Data governance core components bring organizational accountability into a structured framework. Without clear ownership, data misuse or confusion can occur. Policies and standards help maintain process consistency. Metadata management ensures data origin, usage history, and traceability. Together, these components strengthen the overall governance ecosystem.</a:t>
            </a:r>
          </a:p>
          <a:p>
            <a:pPr marL="0" indent="0">
              <a:buNone/>
            </a:pPr>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Clearly defined data ownership and stewardship accountability roles</a:t>
            </a:r>
          </a:p>
          <a:p>
            <a:r>
              <a:rPr lang="en-IN" sz="2000" dirty="0">
                <a:solidFill>
                  <a:schemeClr val="bg1"/>
                </a:solidFill>
                <a:latin typeface="Calibri" panose="020F0502020204030204" pitchFamily="34" charset="0"/>
              </a:rPr>
              <a:t>• Standardized policies documentation ensuring process consistency</a:t>
            </a:r>
          </a:p>
          <a:p>
            <a:r>
              <a:rPr lang="en-IN" sz="2000" dirty="0">
                <a:solidFill>
                  <a:schemeClr val="bg1"/>
                </a:solidFill>
                <a:latin typeface="Calibri" panose="020F0502020204030204" pitchFamily="34" charset="0"/>
              </a:rPr>
              <a:t>• Metadata management improving lineage traceability and auditability</a:t>
            </a:r>
          </a:p>
          <a:p>
            <a:r>
              <a:rPr lang="en-IN" sz="2000" dirty="0">
                <a:solidFill>
                  <a:schemeClr val="bg1"/>
                </a:solidFill>
                <a:latin typeface="Calibri" panose="020F0502020204030204" pitchFamily="34" charset="0"/>
              </a:rPr>
              <a:t>• Defined governance structure supporting compliance enforcement</a:t>
            </a:r>
          </a:p>
        </p:txBody>
      </p:sp>
      <p:pic>
        <p:nvPicPr>
          <p:cNvPr id="4" name="Picture 3">
            <a:extLst>
              <a:ext uri="{FF2B5EF4-FFF2-40B4-BE49-F238E27FC236}">
                <a16:creationId xmlns:a16="http://schemas.microsoft.com/office/drawing/2014/main" id="{D806C21F-1A67-C4AD-1DCF-B2741D219404}"/>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744850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13DEA-B491-F5F1-2315-7A9A09544EAA}"/>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Governance Policies</a:t>
            </a:r>
          </a:p>
        </p:txBody>
      </p:sp>
      <p:sp>
        <p:nvSpPr>
          <p:cNvPr id="3" name="Text Placeholder 2">
            <a:extLst>
              <a:ext uri="{FF2B5EF4-FFF2-40B4-BE49-F238E27FC236}">
                <a16:creationId xmlns:a16="http://schemas.microsoft.com/office/drawing/2014/main" id="{6BF10D66-C0E7-AD27-C4B6-337349C8FDBA}"/>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Governance policies regulate data access, retention, classification, and deletion. Access controls ensure that only authorized users can use the data. Data quality standards maintain consistency across systems. Retention and deletion rules help minimize regulatory risks.</a:t>
            </a:r>
          </a:p>
          <a:p>
            <a:pPr marL="0" indent="0">
              <a:buNone/>
            </a:pPr>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Role-based access control ensuring authorized data usage</a:t>
            </a:r>
          </a:p>
          <a:p>
            <a:r>
              <a:rPr lang="en-IN" sz="2000" dirty="0">
                <a:solidFill>
                  <a:schemeClr val="bg1"/>
                </a:solidFill>
                <a:latin typeface="Calibri" panose="020F0502020204030204" pitchFamily="34" charset="0"/>
              </a:rPr>
              <a:t>• Data quality standards maintaining accuracy and consistency</a:t>
            </a:r>
          </a:p>
          <a:p>
            <a:r>
              <a:rPr lang="en-IN" sz="2000" dirty="0">
                <a:solidFill>
                  <a:schemeClr val="bg1"/>
                </a:solidFill>
                <a:latin typeface="Calibri" panose="020F0502020204030204" pitchFamily="34" charset="0"/>
              </a:rPr>
              <a:t>• Retention and deletion policies reducing compliance risks</a:t>
            </a:r>
          </a:p>
          <a:p>
            <a:r>
              <a:rPr lang="en-IN" sz="2000" dirty="0">
                <a:solidFill>
                  <a:schemeClr val="bg1"/>
                </a:solidFill>
                <a:latin typeface="Calibri" panose="020F0502020204030204" pitchFamily="34" charset="0"/>
              </a:rPr>
              <a:t>• Classification framework supporting secure data handling</a:t>
            </a:r>
          </a:p>
        </p:txBody>
      </p:sp>
      <p:pic>
        <p:nvPicPr>
          <p:cNvPr id="4" name="Picture 3">
            <a:extLst>
              <a:ext uri="{FF2B5EF4-FFF2-40B4-BE49-F238E27FC236}">
                <a16:creationId xmlns:a16="http://schemas.microsoft.com/office/drawing/2014/main" id="{83149696-096E-360A-05A2-1465B5C74CC0}"/>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835353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9AD81-CE59-DFEA-321D-30D3424116F5}"/>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Benefits of Governance</a:t>
            </a:r>
          </a:p>
        </p:txBody>
      </p:sp>
      <p:sp>
        <p:nvSpPr>
          <p:cNvPr id="3" name="Text Placeholder 2">
            <a:extLst>
              <a:ext uri="{FF2B5EF4-FFF2-40B4-BE49-F238E27FC236}">
                <a16:creationId xmlns:a16="http://schemas.microsoft.com/office/drawing/2014/main" id="{EDEDAF51-E73F-7D9B-2B9A-33BF123DD89F}"/>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Effective data governance enhances organizational efficiency. High-quality data supports better decision-making. Governance reduces regulatory penalties and strengthens security. Cross-department collaboration improves through a centralized framework.</a:t>
            </a:r>
          </a:p>
          <a:p>
            <a:pPr marL="0" indent="0">
              <a:buNone/>
            </a:pPr>
            <a:endParaRPr lang="en-GB" sz="2000" dirty="0">
              <a:solidFill>
                <a:schemeClr val="bg1"/>
              </a:solidFill>
              <a:latin typeface="Calibri" panose="020F0502020204030204" pitchFamily="34" charset="0"/>
            </a:endParaRPr>
          </a:p>
          <a:p>
            <a:r>
              <a:rPr lang="en-GB" sz="2000" dirty="0">
                <a:solidFill>
                  <a:schemeClr val="bg1"/>
                </a:solidFill>
                <a:latin typeface="Calibri" panose="020F0502020204030204" pitchFamily="34" charset="0"/>
              </a:rPr>
              <a:t>• Improved data reliability enhancing analytical decision-making</a:t>
            </a:r>
          </a:p>
          <a:p>
            <a:r>
              <a:rPr lang="en-GB" sz="2000" dirty="0">
                <a:solidFill>
                  <a:schemeClr val="bg1"/>
                </a:solidFill>
                <a:latin typeface="Calibri" panose="020F0502020204030204" pitchFamily="34" charset="0"/>
              </a:rPr>
              <a:t>• Reduced regulatory penalties and security breach risks</a:t>
            </a:r>
          </a:p>
          <a:p>
            <a:r>
              <a:rPr lang="en-GB" sz="2000" dirty="0">
                <a:solidFill>
                  <a:schemeClr val="bg1"/>
                </a:solidFill>
                <a:latin typeface="Calibri" panose="020F0502020204030204" pitchFamily="34" charset="0"/>
              </a:rPr>
              <a:t>• Enhanced collaboration across business and IT departments</a:t>
            </a:r>
          </a:p>
          <a:p>
            <a:r>
              <a:rPr lang="en-GB" sz="2000" dirty="0">
                <a:solidFill>
                  <a:schemeClr val="bg1"/>
                </a:solidFill>
                <a:latin typeface="Calibri" panose="020F0502020204030204" pitchFamily="34" charset="0"/>
              </a:rPr>
              <a:t>• Strengthened trust through consistent data management</a:t>
            </a:r>
            <a:endParaRPr lang="en-IN" sz="2000" dirty="0">
              <a:solidFill>
                <a:schemeClr val="bg1"/>
              </a:solidFill>
              <a:latin typeface="Calibri" panose="020F0502020204030204" pitchFamily="34" charset="0"/>
            </a:endParaRPr>
          </a:p>
        </p:txBody>
      </p:sp>
      <p:pic>
        <p:nvPicPr>
          <p:cNvPr id="4" name="Picture 3">
            <a:extLst>
              <a:ext uri="{FF2B5EF4-FFF2-40B4-BE49-F238E27FC236}">
                <a16:creationId xmlns:a16="http://schemas.microsoft.com/office/drawing/2014/main" id="{37395ECE-0579-5815-AF10-86CA1A07EA55}"/>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8008111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40C44-89C0-76B9-5529-1DA73E8FC72C}"/>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Challenges</a:t>
            </a:r>
          </a:p>
        </p:txBody>
      </p:sp>
      <p:sp>
        <p:nvSpPr>
          <p:cNvPr id="3" name="Text Placeholder 2">
            <a:extLst>
              <a:ext uri="{FF2B5EF4-FFF2-40B4-BE49-F238E27FC236}">
                <a16:creationId xmlns:a16="http://schemas.microsoft.com/office/drawing/2014/main" id="{E395C6D4-B9A7-935E-8E8E-7F88AF5545A7}"/>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Governance implementation often faces organizational resistance. Managing large-scale datasets is technically complex. Balancing security and accessibility is a significant challenge. A shortage of skilled professionals can slow down implementation.</a:t>
            </a:r>
          </a:p>
          <a:p>
            <a:pPr marL="0" indent="0">
              <a:buNone/>
            </a:pPr>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Resistance to governance adoption across departments</a:t>
            </a:r>
          </a:p>
          <a:p>
            <a:r>
              <a:rPr lang="en-IN" sz="2000" dirty="0">
                <a:solidFill>
                  <a:schemeClr val="bg1"/>
                </a:solidFill>
                <a:latin typeface="Calibri" panose="020F0502020204030204" pitchFamily="34" charset="0"/>
              </a:rPr>
              <a:t>• Managing complex large-scale enterprise datasets</a:t>
            </a:r>
          </a:p>
          <a:p>
            <a:r>
              <a:rPr lang="en-IN" sz="2000" dirty="0">
                <a:solidFill>
                  <a:schemeClr val="bg1"/>
                </a:solidFill>
                <a:latin typeface="Calibri" panose="020F0502020204030204" pitchFamily="34" charset="0"/>
              </a:rPr>
              <a:t>• Balancing security controls with operational accessibility</a:t>
            </a:r>
          </a:p>
          <a:p>
            <a:r>
              <a:rPr lang="en-IN" sz="2000" dirty="0">
                <a:solidFill>
                  <a:schemeClr val="bg1"/>
                </a:solidFill>
                <a:latin typeface="Calibri" panose="020F0502020204030204" pitchFamily="34" charset="0"/>
              </a:rPr>
              <a:t>• Shortage of skilled governance professionals</a:t>
            </a:r>
          </a:p>
        </p:txBody>
      </p:sp>
      <p:pic>
        <p:nvPicPr>
          <p:cNvPr id="4" name="Picture 3">
            <a:extLst>
              <a:ext uri="{FF2B5EF4-FFF2-40B4-BE49-F238E27FC236}">
                <a16:creationId xmlns:a16="http://schemas.microsoft.com/office/drawing/2014/main" id="{351AA0CC-B462-348B-E535-A1976D1FD26D}"/>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5000079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67221-614B-29C7-C2B4-CDDBC13A9676}"/>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What is Data Ethics?</a:t>
            </a:r>
          </a:p>
        </p:txBody>
      </p:sp>
      <p:sp>
        <p:nvSpPr>
          <p:cNvPr id="3" name="Text Placeholder 2">
            <a:extLst>
              <a:ext uri="{FF2B5EF4-FFF2-40B4-BE49-F238E27FC236}">
                <a16:creationId xmlns:a16="http://schemas.microsoft.com/office/drawing/2014/main" id="{0379E446-8A28-8C38-A884-C3700BB11D8A}"/>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Data ethics is a moral framework that regulates data collection, usage, and sharing. It ensures that technology is not misused. Ethical practices protect privacy and maintain fairness. Transparency and accountability form the foundation of an ethical ecosystem.</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Moral principles guiding responsible data usage</a:t>
            </a:r>
          </a:p>
          <a:p>
            <a:r>
              <a:rPr lang="en-IN" sz="2000" dirty="0">
                <a:solidFill>
                  <a:schemeClr val="bg1"/>
                </a:solidFill>
                <a:latin typeface="Calibri" panose="020F0502020204030204" pitchFamily="34" charset="0"/>
              </a:rPr>
              <a:t>• Ensures fairness transparency and accountability standards</a:t>
            </a:r>
          </a:p>
          <a:p>
            <a:r>
              <a:rPr lang="en-IN" sz="2000" dirty="0">
                <a:solidFill>
                  <a:schemeClr val="bg1"/>
                </a:solidFill>
                <a:latin typeface="Calibri" panose="020F0502020204030204" pitchFamily="34" charset="0"/>
              </a:rPr>
              <a:t>• Protects individual privacy and fundamental rights</a:t>
            </a:r>
          </a:p>
          <a:p>
            <a:r>
              <a:rPr lang="en-IN" sz="2000" dirty="0">
                <a:solidFill>
                  <a:schemeClr val="bg1"/>
                </a:solidFill>
                <a:latin typeface="Calibri" panose="020F0502020204030204" pitchFamily="34" charset="0"/>
              </a:rPr>
              <a:t>• Promotes ethical decision-making in digital systems</a:t>
            </a:r>
          </a:p>
        </p:txBody>
      </p:sp>
      <p:pic>
        <p:nvPicPr>
          <p:cNvPr id="4" name="Picture 3">
            <a:extLst>
              <a:ext uri="{FF2B5EF4-FFF2-40B4-BE49-F238E27FC236}">
                <a16:creationId xmlns:a16="http://schemas.microsoft.com/office/drawing/2014/main" id="{446944A1-4B7B-710E-558F-A56B64C08603}"/>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2967396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9533A-7FB1-CFDA-0210-5BFC2928A8C2}"/>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Importance of Data Ethics</a:t>
            </a:r>
          </a:p>
        </p:txBody>
      </p:sp>
      <p:sp>
        <p:nvSpPr>
          <p:cNvPr id="3" name="Text Placeholder 2">
            <a:extLst>
              <a:ext uri="{FF2B5EF4-FFF2-40B4-BE49-F238E27FC236}">
                <a16:creationId xmlns:a16="http://schemas.microsoft.com/office/drawing/2014/main" id="{934FF0E7-031D-410F-AB2E-7486F4CA6AF2}"/>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Transparency ensures that users know how their data is being used. Consent gives individuals control over their data. Fairness supports bias-free decision-making. Accountability assigns responsibility in cases of misuse.</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Builds customer trust through transparent practices</a:t>
            </a:r>
          </a:p>
          <a:p>
            <a:r>
              <a:rPr lang="en-IN" sz="2000" dirty="0">
                <a:solidFill>
                  <a:schemeClr val="bg1"/>
                </a:solidFill>
                <a:latin typeface="Calibri" panose="020F0502020204030204" pitchFamily="34" charset="0"/>
              </a:rPr>
              <a:t>• Prevents unethical manipulation and misuse of information</a:t>
            </a:r>
          </a:p>
          <a:p>
            <a:r>
              <a:rPr lang="en-IN" sz="2000" dirty="0">
                <a:solidFill>
                  <a:schemeClr val="bg1"/>
                </a:solidFill>
                <a:latin typeface="Calibri" panose="020F0502020204030204" pitchFamily="34" charset="0"/>
              </a:rPr>
              <a:t>• Supports responsible innovation and long-term sustainability</a:t>
            </a:r>
          </a:p>
          <a:p>
            <a:r>
              <a:rPr lang="en-IN" sz="2000" dirty="0">
                <a:solidFill>
                  <a:schemeClr val="bg1"/>
                </a:solidFill>
                <a:latin typeface="Calibri" panose="020F0502020204030204" pitchFamily="34" charset="0"/>
              </a:rPr>
              <a:t>• Protects brand reputation and stakeholder confidence</a:t>
            </a:r>
          </a:p>
        </p:txBody>
      </p:sp>
      <p:pic>
        <p:nvPicPr>
          <p:cNvPr id="4" name="Picture 3">
            <a:extLst>
              <a:ext uri="{FF2B5EF4-FFF2-40B4-BE49-F238E27FC236}">
                <a16:creationId xmlns:a16="http://schemas.microsoft.com/office/drawing/2014/main" id="{D8A93CD9-EF8F-85A6-9EBE-AB7471429876}"/>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37685383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BF95-E943-EC2F-E64A-98BA85C7C16C}"/>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Key Principles</a:t>
            </a:r>
          </a:p>
        </p:txBody>
      </p:sp>
      <p:sp>
        <p:nvSpPr>
          <p:cNvPr id="3" name="Text Placeholder 2">
            <a:extLst>
              <a:ext uri="{FF2B5EF4-FFF2-40B4-BE49-F238E27FC236}">
                <a16:creationId xmlns:a16="http://schemas.microsoft.com/office/drawing/2014/main" id="{ED7456A9-9DE0-4B4B-9487-FA50A9B184FE}"/>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Transparency ensures that users are aware of how their data is being used. Consent gives individuals control over their personal information. Fairness promotes unbiased decision-making. Accountability establishes responsibility in cases of data misuse.</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Transparency in data collection and processing practices</a:t>
            </a:r>
          </a:p>
          <a:p>
            <a:r>
              <a:rPr lang="en-IN" sz="2000" dirty="0">
                <a:solidFill>
                  <a:schemeClr val="bg1"/>
                </a:solidFill>
                <a:latin typeface="Calibri" panose="020F0502020204030204" pitchFamily="34" charset="0"/>
              </a:rPr>
              <a:t>• Informed consent before collecting personal information</a:t>
            </a:r>
          </a:p>
          <a:p>
            <a:r>
              <a:rPr lang="en-IN" sz="2000" dirty="0">
                <a:solidFill>
                  <a:schemeClr val="bg1"/>
                </a:solidFill>
                <a:latin typeface="Calibri" panose="020F0502020204030204" pitchFamily="34" charset="0"/>
              </a:rPr>
              <a:t>• Fairness preventing bias and discriminatory outcomes</a:t>
            </a:r>
          </a:p>
          <a:p>
            <a:r>
              <a:rPr lang="en-IN" sz="2000" dirty="0">
                <a:solidFill>
                  <a:schemeClr val="bg1"/>
                </a:solidFill>
                <a:latin typeface="Calibri" panose="020F0502020204030204" pitchFamily="34" charset="0"/>
              </a:rPr>
              <a:t>• Accountability ensuring responsibility for data misuse</a:t>
            </a:r>
          </a:p>
        </p:txBody>
      </p:sp>
      <p:pic>
        <p:nvPicPr>
          <p:cNvPr id="4" name="Picture 3">
            <a:extLst>
              <a:ext uri="{FF2B5EF4-FFF2-40B4-BE49-F238E27FC236}">
                <a16:creationId xmlns:a16="http://schemas.microsoft.com/office/drawing/2014/main" id="{3209341C-D1EF-5F4A-65C7-0584B86C0AD9}"/>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526234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B3E79-EEB6-E527-EFF6-99B60CC10C8C}"/>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Ethical Data Collection</a:t>
            </a:r>
          </a:p>
        </p:txBody>
      </p:sp>
      <p:sp>
        <p:nvSpPr>
          <p:cNvPr id="3" name="Text Placeholder 2">
            <a:extLst>
              <a:ext uri="{FF2B5EF4-FFF2-40B4-BE49-F238E27FC236}">
                <a16:creationId xmlns:a16="http://schemas.microsoft.com/office/drawing/2014/main" id="{052E4082-A33B-9562-8FD8-FD96A60FCE11}"/>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Organizations should collect only the minimum necessary data. Clear and informed consent must be obtained. Privacy rights must be respected. Secure data storage and protection are mandatory.</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Collect only relevant and necessary information</a:t>
            </a:r>
          </a:p>
          <a:p>
            <a:r>
              <a:rPr lang="en-IN" sz="2000" dirty="0">
                <a:solidFill>
                  <a:schemeClr val="bg1"/>
                </a:solidFill>
                <a:latin typeface="Calibri" panose="020F0502020204030204" pitchFamily="34" charset="0"/>
              </a:rPr>
              <a:t>• Obtain clear explicit informed user consent</a:t>
            </a:r>
          </a:p>
          <a:p>
            <a:r>
              <a:rPr lang="en-IN" sz="2000" dirty="0">
                <a:solidFill>
                  <a:schemeClr val="bg1"/>
                </a:solidFill>
                <a:latin typeface="Calibri" panose="020F0502020204030204" pitchFamily="34" charset="0"/>
              </a:rPr>
              <a:t>• Respect privacy rights and data protection laws</a:t>
            </a:r>
          </a:p>
          <a:p>
            <a:r>
              <a:rPr lang="en-IN" sz="2000" dirty="0">
                <a:solidFill>
                  <a:schemeClr val="bg1"/>
                </a:solidFill>
                <a:latin typeface="Calibri" panose="020F0502020204030204" pitchFamily="34" charset="0"/>
              </a:rPr>
              <a:t>• Secure storage and encryption practices</a:t>
            </a:r>
          </a:p>
        </p:txBody>
      </p:sp>
      <p:pic>
        <p:nvPicPr>
          <p:cNvPr id="4" name="Picture 3">
            <a:extLst>
              <a:ext uri="{FF2B5EF4-FFF2-40B4-BE49-F238E27FC236}">
                <a16:creationId xmlns:a16="http://schemas.microsoft.com/office/drawing/2014/main" id="{803FDF8C-35E8-6A58-F3D8-328930A0BE0C}"/>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28757916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AD76-C257-15B8-0237-EEDE0DAC4362}"/>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Data Quality vs Ethical Use</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E0FCF814-F8B7-130B-0B1F-FA2FE4FCB36D}"/>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Even with high-quality data, unethical usage is still possible. Ethical intent guides how data is applied. Context and purpose matter significantly. Responsible use helps maintain trust.</a:t>
            </a:r>
          </a:p>
          <a:p>
            <a:pPr marL="0" indent="0">
              <a:buNone/>
            </a:pPr>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High quality data does not guarantee ethical use</a:t>
            </a:r>
          </a:p>
          <a:p>
            <a:r>
              <a:rPr lang="en-IN" sz="2000" dirty="0">
                <a:solidFill>
                  <a:schemeClr val="bg1"/>
                </a:solidFill>
                <a:latin typeface="Calibri" panose="020F0502020204030204" pitchFamily="34" charset="0"/>
              </a:rPr>
              <a:t>• Ethical intent defines acceptable application context</a:t>
            </a:r>
          </a:p>
          <a:p>
            <a:r>
              <a:rPr lang="en-IN" sz="2000" dirty="0">
                <a:solidFill>
                  <a:schemeClr val="bg1"/>
                </a:solidFill>
                <a:latin typeface="Calibri" panose="020F0502020204030204" pitchFamily="34" charset="0"/>
              </a:rPr>
              <a:t>• Responsible usage maintains trust and credibility</a:t>
            </a:r>
          </a:p>
          <a:p>
            <a:r>
              <a:rPr lang="en-IN" sz="2000" dirty="0">
                <a:solidFill>
                  <a:schemeClr val="bg1"/>
                </a:solidFill>
                <a:latin typeface="Calibri" panose="020F0502020204030204" pitchFamily="34" charset="0"/>
              </a:rPr>
              <a:t>• Misuse damages reputation despite technical accuracy</a:t>
            </a:r>
          </a:p>
        </p:txBody>
      </p:sp>
      <p:pic>
        <p:nvPicPr>
          <p:cNvPr id="4" name="Picture 3">
            <a:extLst>
              <a:ext uri="{FF2B5EF4-FFF2-40B4-BE49-F238E27FC236}">
                <a16:creationId xmlns:a16="http://schemas.microsoft.com/office/drawing/2014/main" id="{1072CD90-54DB-0E0A-3D19-0FCF859C6F86}"/>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3465558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E9001-E95E-18FA-73F5-8E4564ABF218}"/>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Compliance Frameworks</a:t>
            </a:r>
          </a:p>
        </p:txBody>
      </p:sp>
      <p:sp>
        <p:nvSpPr>
          <p:cNvPr id="3" name="Text Placeholder 2">
            <a:extLst>
              <a:ext uri="{FF2B5EF4-FFF2-40B4-BE49-F238E27FC236}">
                <a16:creationId xmlns:a16="http://schemas.microsoft.com/office/drawing/2014/main" id="{D7E24AA3-98B3-FEE9-6BC7-565FB3EF753E}"/>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Global regulatory frameworks help ensure data protection. The General Data Protection Regulation (GDPR) protects the rights of European users. The California Consumer Privacy Act (CCPA) strengthens consumer privacy rights. The Health Insurance Portability and Accountability Act (HIPAA) safeguards healthcare data and ensures its security.</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GDPR protecting European user personal data</a:t>
            </a:r>
          </a:p>
          <a:p>
            <a:r>
              <a:rPr lang="en-IN" sz="2000" dirty="0">
                <a:solidFill>
                  <a:schemeClr val="bg1"/>
                </a:solidFill>
                <a:latin typeface="Calibri" panose="020F0502020204030204" pitchFamily="34" charset="0"/>
              </a:rPr>
              <a:t>• CCPA granting consumers enhanced privacy rights</a:t>
            </a:r>
          </a:p>
          <a:p>
            <a:r>
              <a:rPr lang="en-IN" sz="2000" dirty="0">
                <a:solidFill>
                  <a:schemeClr val="bg1"/>
                </a:solidFill>
                <a:latin typeface="Calibri" panose="020F0502020204030204" pitchFamily="34" charset="0"/>
              </a:rPr>
              <a:t>• HIPAA securing sensitive healthcare information</a:t>
            </a:r>
          </a:p>
          <a:p>
            <a:r>
              <a:rPr lang="en-IN" sz="2000" dirty="0">
                <a:solidFill>
                  <a:schemeClr val="bg1"/>
                </a:solidFill>
                <a:latin typeface="Calibri" panose="020F0502020204030204" pitchFamily="34" charset="0"/>
              </a:rPr>
              <a:t>• Regulatory compliance reducing legal and financial risks</a:t>
            </a:r>
          </a:p>
        </p:txBody>
      </p:sp>
      <p:pic>
        <p:nvPicPr>
          <p:cNvPr id="4" name="Picture 3">
            <a:extLst>
              <a:ext uri="{FF2B5EF4-FFF2-40B4-BE49-F238E27FC236}">
                <a16:creationId xmlns:a16="http://schemas.microsoft.com/office/drawing/2014/main" id="{D17AF408-3DCF-0D35-6F71-93FC9437E195}"/>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8148049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4858-DF3E-7E0C-8B36-7107B4004AD7}"/>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GDPR vs CCPA</a:t>
            </a:r>
          </a:p>
        </p:txBody>
      </p:sp>
      <p:sp>
        <p:nvSpPr>
          <p:cNvPr id="3" name="Text Placeholder 2">
            <a:extLst>
              <a:ext uri="{FF2B5EF4-FFF2-40B4-BE49-F238E27FC236}">
                <a16:creationId xmlns:a16="http://schemas.microsoft.com/office/drawing/2014/main" id="{AF834BCF-CFC1-8E87-FD5D-11B773DE7D64}"/>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The General Data Protection Regulation follows a strict consent-based regulatory model. The California Consumer Privacy Act emphasizes opt-out rights for consumers. GDPR imposes comparatively higher fines for non-compliance. Both laws increase transparency in data handling practices.</a:t>
            </a:r>
          </a:p>
          <a:p>
            <a:pPr marL="0" indent="0">
              <a:buNone/>
            </a:pPr>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GDPR strict consent-based compliance framework</a:t>
            </a:r>
          </a:p>
          <a:p>
            <a:r>
              <a:rPr lang="en-IN" sz="2000" dirty="0">
                <a:solidFill>
                  <a:schemeClr val="bg1"/>
                </a:solidFill>
                <a:latin typeface="Calibri" panose="020F0502020204030204" pitchFamily="34" charset="0"/>
              </a:rPr>
              <a:t>• CCPA opt-out focused consumer rights model</a:t>
            </a:r>
          </a:p>
          <a:p>
            <a:r>
              <a:rPr lang="en-IN" sz="2000" dirty="0">
                <a:solidFill>
                  <a:schemeClr val="bg1"/>
                </a:solidFill>
                <a:latin typeface="Calibri" panose="020F0502020204030204" pitchFamily="34" charset="0"/>
              </a:rPr>
              <a:t>• GDPR imposes higher penalties for violations</a:t>
            </a:r>
          </a:p>
          <a:p>
            <a:r>
              <a:rPr lang="en-IN" sz="2000" dirty="0">
                <a:solidFill>
                  <a:schemeClr val="bg1"/>
                </a:solidFill>
                <a:latin typeface="Calibri" panose="020F0502020204030204" pitchFamily="34" charset="0"/>
              </a:rPr>
              <a:t>• Both enhance transparency and accountability</a:t>
            </a:r>
          </a:p>
        </p:txBody>
      </p:sp>
      <p:pic>
        <p:nvPicPr>
          <p:cNvPr id="4" name="Picture 3">
            <a:extLst>
              <a:ext uri="{FF2B5EF4-FFF2-40B4-BE49-F238E27FC236}">
                <a16:creationId xmlns:a16="http://schemas.microsoft.com/office/drawing/2014/main" id="{FCA52E3E-9A1B-61C5-A042-3EFE18D07F19}"/>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9849682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CA516-F039-9116-FE5C-9CF9EAE7435B}"/>
              </a:ext>
            </a:extLst>
          </p:cNvPr>
          <p:cNvSpPr>
            <a:spLocks noGrp="1"/>
          </p:cNvSpPr>
          <p:nvPr>
            <p:ph type="title"/>
          </p:nvPr>
        </p:nvSpPr>
        <p:spPr/>
        <p:txBody>
          <a:bodyPr>
            <a:normAutofit/>
          </a:bodyPr>
          <a:lstStyle/>
          <a:p>
            <a:r>
              <a:rPr lang="en-IN" sz="3400" b="1" dirty="0">
                <a:solidFill>
                  <a:srgbClr val="FFFFFF"/>
                </a:solidFill>
                <a:latin typeface="Calibri" panose="020F0502020204030204" pitchFamily="34" charset="0"/>
              </a:rPr>
              <a:t>Responsible Data Practices</a:t>
            </a:r>
          </a:p>
        </p:txBody>
      </p:sp>
      <p:sp>
        <p:nvSpPr>
          <p:cNvPr id="3" name="Text Placeholder 2">
            <a:extLst>
              <a:ext uri="{FF2B5EF4-FFF2-40B4-BE49-F238E27FC236}">
                <a16:creationId xmlns:a16="http://schemas.microsoft.com/office/drawing/2014/main" id="{D81AC9A5-12EA-D573-FBE4-EFE0D89151A4}"/>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Organizations must go beyond mere compliance and build a strong ethical culture. Continuous training increases employee awareness. Monitoring and auditing ensure long-term sustainability. Leadership sets the ethical tone for the entire organization.</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Embed ethics within organizational culture and values</a:t>
            </a:r>
          </a:p>
          <a:p>
            <a:r>
              <a:rPr lang="en-IN" sz="2000" dirty="0">
                <a:solidFill>
                  <a:schemeClr val="bg1"/>
                </a:solidFill>
                <a:latin typeface="Calibri" panose="020F0502020204030204" pitchFamily="34" charset="0"/>
              </a:rPr>
              <a:t>• Continuous monitoring and employee awareness training</a:t>
            </a:r>
          </a:p>
          <a:p>
            <a:r>
              <a:rPr lang="en-IN" sz="2000" dirty="0">
                <a:solidFill>
                  <a:schemeClr val="bg1"/>
                </a:solidFill>
                <a:latin typeface="Calibri" panose="020F0502020204030204" pitchFamily="34" charset="0"/>
              </a:rPr>
              <a:t>• Regular audits ensuring sustainable compliance practices</a:t>
            </a:r>
          </a:p>
          <a:p>
            <a:r>
              <a:rPr lang="en-IN" sz="2000" dirty="0">
                <a:solidFill>
                  <a:schemeClr val="bg1"/>
                </a:solidFill>
                <a:latin typeface="Calibri" panose="020F0502020204030204" pitchFamily="34" charset="0"/>
              </a:rPr>
              <a:t>• Leadership commitment driving responsible data </a:t>
            </a:r>
            <a:r>
              <a:rPr lang="en-IN" sz="2000" dirty="0" err="1">
                <a:solidFill>
                  <a:schemeClr val="bg1"/>
                </a:solidFill>
                <a:latin typeface="Calibri" panose="020F0502020204030204" pitchFamily="34" charset="0"/>
              </a:rPr>
              <a:t>behavior</a:t>
            </a:r>
            <a:endParaRPr lang="en-IN" sz="2000" dirty="0">
              <a:solidFill>
                <a:schemeClr val="bg1"/>
              </a:solidFill>
              <a:latin typeface="Calibri" panose="020F0502020204030204" pitchFamily="34" charset="0"/>
            </a:endParaRPr>
          </a:p>
        </p:txBody>
      </p:sp>
      <p:pic>
        <p:nvPicPr>
          <p:cNvPr id="4" name="Picture 3">
            <a:extLst>
              <a:ext uri="{FF2B5EF4-FFF2-40B4-BE49-F238E27FC236}">
                <a16:creationId xmlns:a16="http://schemas.microsoft.com/office/drawing/2014/main" id="{FA8B7F09-A6D9-9824-6FDE-2E3672116C7C}"/>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5767296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99629-5D6B-A026-D767-F75E84D1D4FB}"/>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Role of Data Stewards</a:t>
            </a:r>
          </a:p>
        </p:txBody>
      </p:sp>
      <p:sp>
        <p:nvSpPr>
          <p:cNvPr id="3" name="Text Placeholder 2">
            <a:extLst>
              <a:ext uri="{FF2B5EF4-FFF2-40B4-BE49-F238E27FC236}">
                <a16:creationId xmlns:a16="http://schemas.microsoft.com/office/drawing/2014/main" id="{6FC193C4-609F-3AFE-91AC-C2BB70B74B47}"/>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Data stewards monitor the implementation of governance practices. They maintain data quality and ensure compliance. They also act as a bridge between IT and business functions.</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Monitor policy adherence and regulatory compliance</a:t>
            </a:r>
          </a:p>
          <a:p>
            <a:r>
              <a:rPr lang="en-IN" sz="2000" dirty="0">
                <a:solidFill>
                  <a:schemeClr val="bg1"/>
                </a:solidFill>
                <a:latin typeface="Calibri" panose="020F0502020204030204" pitchFamily="34" charset="0"/>
              </a:rPr>
              <a:t>• Maintain high standards of data quality</a:t>
            </a:r>
          </a:p>
          <a:p>
            <a:r>
              <a:rPr lang="en-IN" sz="2000" dirty="0">
                <a:solidFill>
                  <a:schemeClr val="bg1"/>
                </a:solidFill>
                <a:latin typeface="Calibri" panose="020F0502020204030204" pitchFamily="34" charset="0"/>
              </a:rPr>
              <a:t>• Bridge communication between IT and business</a:t>
            </a:r>
          </a:p>
          <a:p>
            <a:r>
              <a:rPr lang="en-IN" sz="2000" dirty="0">
                <a:solidFill>
                  <a:schemeClr val="bg1"/>
                </a:solidFill>
                <a:latin typeface="Calibri" panose="020F0502020204030204" pitchFamily="34" charset="0"/>
              </a:rPr>
              <a:t>• Support continuous governance improvement initiatives</a:t>
            </a:r>
          </a:p>
        </p:txBody>
      </p:sp>
      <p:pic>
        <p:nvPicPr>
          <p:cNvPr id="4" name="Picture 3">
            <a:extLst>
              <a:ext uri="{FF2B5EF4-FFF2-40B4-BE49-F238E27FC236}">
                <a16:creationId xmlns:a16="http://schemas.microsoft.com/office/drawing/2014/main" id="{DCF09F59-FCF2-79C2-9140-EC754C288671}"/>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4634098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E441B-4FDA-B798-9FA9-8D4952C814DE}"/>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Data Governance Tools</a:t>
            </a:r>
          </a:p>
        </p:txBody>
      </p:sp>
      <p:sp>
        <p:nvSpPr>
          <p:cNvPr id="3" name="Text Placeholder 2">
            <a:extLst>
              <a:ext uri="{FF2B5EF4-FFF2-40B4-BE49-F238E27FC236}">
                <a16:creationId xmlns:a16="http://schemas.microsoft.com/office/drawing/2014/main" id="{E2B8CDEB-165F-9276-A2BF-7FE51B945E58}"/>
              </a:ext>
            </a:extLst>
          </p:cNvPr>
          <p:cNvSpPr>
            <a:spLocks noGrp="1"/>
          </p:cNvSpPr>
          <p:nvPr>
            <p:ph type="body" idx="1"/>
          </p:nvPr>
        </p:nvSpPr>
        <p:spPr/>
        <p:txBody>
          <a:bodyPr>
            <a:normAutofit/>
          </a:bodyPr>
          <a:lstStyle/>
          <a:p>
            <a:pPr marL="0" indent="0" algn="just">
              <a:buNone/>
            </a:pPr>
            <a:r>
              <a:rPr lang="en-GB" sz="2000" dirty="0">
                <a:solidFill>
                  <a:schemeClr val="bg1"/>
                </a:solidFill>
                <a:latin typeface="Calibri" panose="020F0502020204030204" pitchFamily="34" charset="0"/>
              </a:rPr>
              <a:t>Modern governance tools track metadata and automate compliance processes.</a:t>
            </a:r>
          </a:p>
          <a:p>
            <a:pPr marL="0" indent="0" algn="just">
              <a:buNone/>
            </a:pPr>
            <a:r>
              <a:rPr lang="en-GB" sz="2000" dirty="0">
                <a:solidFill>
                  <a:schemeClr val="bg1"/>
                </a:solidFill>
                <a:latin typeface="Calibri" panose="020F0502020204030204" pitchFamily="34" charset="0"/>
              </a:rPr>
              <a:t>Collibra, Informatica, and Talend are widely used platforms in this </a:t>
            </a:r>
            <a:r>
              <a:rPr lang="en-GB" sz="2000" dirty="0" err="1">
                <a:solidFill>
                  <a:schemeClr val="bg1"/>
                </a:solidFill>
                <a:latin typeface="Calibri" panose="020F0502020204030204" pitchFamily="34" charset="0"/>
              </a:rPr>
              <a:t>space.Centralized</a:t>
            </a:r>
            <a:r>
              <a:rPr lang="en-GB" sz="2000" dirty="0">
                <a:solidFill>
                  <a:schemeClr val="bg1"/>
                </a:solidFill>
                <a:latin typeface="Calibri" panose="020F0502020204030204" pitchFamily="34" charset="0"/>
              </a:rPr>
              <a:t> dashboards make oversight and monitoring easier.</a:t>
            </a:r>
          </a:p>
          <a:p>
            <a:pPr marL="0" indent="0" algn="just">
              <a:buNone/>
            </a:pPr>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Tools like Collibra Informatica and Talend</a:t>
            </a:r>
          </a:p>
          <a:p>
            <a:r>
              <a:rPr lang="en-IN" sz="2000" dirty="0">
                <a:solidFill>
                  <a:schemeClr val="bg1"/>
                </a:solidFill>
                <a:latin typeface="Calibri" panose="020F0502020204030204" pitchFamily="34" charset="0"/>
              </a:rPr>
              <a:t>• Metadata management and automation platforms</a:t>
            </a:r>
          </a:p>
          <a:p>
            <a:r>
              <a:rPr lang="en-IN" sz="2000" dirty="0">
                <a:solidFill>
                  <a:schemeClr val="bg1"/>
                </a:solidFill>
                <a:latin typeface="Calibri" panose="020F0502020204030204" pitchFamily="34" charset="0"/>
              </a:rPr>
              <a:t>• Centralized dashboards for governance monitoring</a:t>
            </a:r>
          </a:p>
          <a:p>
            <a:r>
              <a:rPr lang="en-IN" sz="2000" dirty="0">
                <a:solidFill>
                  <a:schemeClr val="bg1"/>
                </a:solidFill>
                <a:latin typeface="Calibri" panose="020F0502020204030204" pitchFamily="34" charset="0"/>
              </a:rPr>
              <a:t>• Improves visibility across enterprise data assets</a:t>
            </a:r>
          </a:p>
        </p:txBody>
      </p:sp>
      <p:pic>
        <p:nvPicPr>
          <p:cNvPr id="4" name="Picture 3">
            <a:extLst>
              <a:ext uri="{FF2B5EF4-FFF2-40B4-BE49-F238E27FC236}">
                <a16:creationId xmlns:a16="http://schemas.microsoft.com/office/drawing/2014/main" id="{3DF3EE90-5B2B-827D-086F-2E16EF98DD86}"/>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7822378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FA3FF-74B3-A13A-7059-B29FB719D53C}"/>
              </a:ext>
            </a:extLst>
          </p:cNvPr>
          <p:cNvSpPr>
            <a:spLocks noGrp="1"/>
          </p:cNvSpPr>
          <p:nvPr>
            <p:ph type="title"/>
          </p:nvPr>
        </p:nvSpPr>
        <p:spPr/>
        <p:txBody>
          <a:bodyPr>
            <a:normAutofit/>
          </a:bodyPr>
          <a:lstStyle/>
          <a:p>
            <a:r>
              <a:rPr lang="en-GB" sz="3400" b="1">
                <a:solidFill>
                  <a:srgbClr val="FFFFFF"/>
                </a:solidFill>
                <a:latin typeface="Calibri" panose="020F0502020204030204" pitchFamily="34" charset="0"/>
              </a:rPr>
              <a:t>Case Studies in Data Ethics</a:t>
            </a:r>
            <a:endParaRPr lang="en-IN" sz="3400" b="1">
              <a:solidFill>
                <a:srgbClr val="FFFFFF"/>
              </a:solidFill>
              <a:latin typeface="Calibri" panose="020F0502020204030204" pitchFamily="34" charset="0"/>
            </a:endParaRPr>
          </a:p>
        </p:txBody>
      </p:sp>
      <p:sp>
        <p:nvSpPr>
          <p:cNvPr id="3" name="Text Placeholder 2">
            <a:extLst>
              <a:ext uri="{FF2B5EF4-FFF2-40B4-BE49-F238E27FC236}">
                <a16:creationId xmlns:a16="http://schemas.microsoft.com/office/drawing/2014/main" id="{A95AF875-7991-19D4-91D5-975B0792C9BD}"/>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Real-world scandals highlight the importance of strong data governance. The Facebook–Cambridge Analytica data scandal is a major example of data misuse. Healthcare data breaches also damage public trust. The key lesson is the need for stronger governance and ethical practices.</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Facebook Cambridge Analytica data misuse case</a:t>
            </a:r>
          </a:p>
          <a:p>
            <a:r>
              <a:rPr lang="en-IN" sz="2000" dirty="0">
                <a:solidFill>
                  <a:schemeClr val="bg1"/>
                </a:solidFill>
                <a:latin typeface="Calibri" panose="020F0502020204030204" pitchFamily="34" charset="0"/>
              </a:rPr>
              <a:t>• Healthcare data privacy breach controversies</a:t>
            </a:r>
          </a:p>
          <a:p>
            <a:r>
              <a:rPr lang="en-IN" sz="2000" dirty="0">
                <a:solidFill>
                  <a:schemeClr val="bg1"/>
                </a:solidFill>
                <a:latin typeface="Calibri" panose="020F0502020204030204" pitchFamily="34" charset="0"/>
              </a:rPr>
              <a:t>• Ethical failures damaging trust and reputation</a:t>
            </a:r>
          </a:p>
          <a:p>
            <a:r>
              <a:rPr lang="en-IN" sz="2000" dirty="0">
                <a:solidFill>
                  <a:schemeClr val="bg1"/>
                </a:solidFill>
                <a:latin typeface="Calibri" panose="020F0502020204030204" pitchFamily="34" charset="0"/>
              </a:rPr>
              <a:t>• Lessons emphasizing stronger governance frameworks</a:t>
            </a:r>
          </a:p>
        </p:txBody>
      </p:sp>
      <p:pic>
        <p:nvPicPr>
          <p:cNvPr id="4" name="Picture 3">
            <a:extLst>
              <a:ext uri="{FF2B5EF4-FFF2-40B4-BE49-F238E27FC236}">
                <a16:creationId xmlns:a16="http://schemas.microsoft.com/office/drawing/2014/main" id="{33C4CA8E-9509-B524-836C-2063C018D1C5}"/>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6704629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79F95-3C9D-4669-47D3-32A83C64CAC3}"/>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Future of Governance &amp; Ethics</a:t>
            </a:r>
          </a:p>
        </p:txBody>
      </p:sp>
      <p:sp>
        <p:nvSpPr>
          <p:cNvPr id="3" name="Text Placeholder 2">
            <a:extLst>
              <a:ext uri="{FF2B5EF4-FFF2-40B4-BE49-F238E27FC236}">
                <a16:creationId xmlns:a16="http://schemas.microsoft.com/office/drawing/2014/main" id="{0806B52B-C5EE-04E2-5CBE-43B01A2F960D}"/>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AI-driven governance supports automated monitoring and compliance management. Ethical AI frameworks are being developed globally to ensure responsible use of artificial intelligence. Harmonization of international laws can further enhance transparency and strengthen global data protection standards.</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AI-powered governance and compliance monitoring systems</a:t>
            </a:r>
          </a:p>
          <a:p>
            <a:r>
              <a:rPr lang="en-IN" sz="2000" dirty="0">
                <a:solidFill>
                  <a:schemeClr val="bg1"/>
                </a:solidFill>
                <a:latin typeface="Calibri" panose="020F0502020204030204" pitchFamily="34" charset="0"/>
              </a:rPr>
              <a:t>• Development of global ethical AI standards</a:t>
            </a:r>
          </a:p>
          <a:p>
            <a:r>
              <a:rPr lang="en-IN" sz="2000" dirty="0">
                <a:solidFill>
                  <a:schemeClr val="bg1"/>
                </a:solidFill>
                <a:latin typeface="Calibri" panose="020F0502020204030204" pitchFamily="34" charset="0"/>
              </a:rPr>
              <a:t>• Harmonization of international privacy regulations</a:t>
            </a:r>
          </a:p>
          <a:p>
            <a:r>
              <a:rPr lang="en-IN" sz="2000" dirty="0">
                <a:solidFill>
                  <a:schemeClr val="bg1"/>
                </a:solidFill>
                <a:latin typeface="Calibri" panose="020F0502020204030204" pitchFamily="34" charset="0"/>
              </a:rPr>
              <a:t>• Increased focus on responsible data innovation</a:t>
            </a:r>
          </a:p>
        </p:txBody>
      </p:sp>
      <p:pic>
        <p:nvPicPr>
          <p:cNvPr id="4" name="Picture 3">
            <a:extLst>
              <a:ext uri="{FF2B5EF4-FFF2-40B4-BE49-F238E27FC236}">
                <a16:creationId xmlns:a16="http://schemas.microsoft.com/office/drawing/2014/main" id="{6999FDE9-D963-30D4-7FA1-5C28AC87D3AD}"/>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4861615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60DF-8BC5-786A-A59C-AC54A7041663}"/>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Key Takeaways</a:t>
            </a:r>
          </a:p>
        </p:txBody>
      </p:sp>
      <p:sp>
        <p:nvSpPr>
          <p:cNvPr id="3" name="Text Placeholder 2">
            <a:extLst>
              <a:ext uri="{FF2B5EF4-FFF2-40B4-BE49-F238E27FC236}">
                <a16:creationId xmlns:a16="http://schemas.microsoft.com/office/drawing/2014/main" id="{5200C643-75AE-E5D6-7A55-82EA7134B9F6}"/>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Governance structures ensure compliance with regulations and policies. Ethics builds fairness and trust within the organization. Together, they create a responsible data culture. Sustainable innovation depends on strong governance practices.</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Governance provides structured compliance foundation</a:t>
            </a:r>
          </a:p>
          <a:p>
            <a:r>
              <a:rPr lang="en-IN" sz="2000" dirty="0">
                <a:solidFill>
                  <a:schemeClr val="bg1"/>
                </a:solidFill>
                <a:latin typeface="Calibri" panose="020F0502020204030204" pitchFamily="34" charset="0"/>
              </a:rPr>
              <a:t>• Ethics ensures fairness transparency and trust</a:t>
            </a:r>
          </a:p>
          <a:p>
            <a:r>
              <a:rPr lang="en-IN" sz="2000" dirty="0">
                <a:solidFill>
                  <a:schemeClr val="bg1"/>
                </a:solidFill>
                <a:latin typeface="Calibri" panose="020F0502020204030204" pitchFamily="34" charset="0"/>
              </a:rPr>
              <a:t>• Together create responsible sustainable data culture</a:t>
            </a:r>
          </a:p>
          <a:p>
            <a:r>
              <a:rPr lang="en-IN" sz="2000" dirty="0">
                <a:solidFill>
                  <a:schemeClr val="bg1"/>
                </a:solidFill>
                <a:latin typeface="Calibri" panose="020F0502020204030204" pitchFamily="34" charset="0"/>
              </a:rPr>
              <a:t>• Essential for long-term digital transformation success</a:t>
            </a:r>
          </a:p>
        </p:txBody>
      </p:sp>
      <p:pic>
        <p:nvPicPr>
          <p:cNvPr id="4" name="Picture 3">
            <a:extLst>
              <a:ext uri="{FF2B5EF4-FFF2-40B4-BE49-F238E27FC236}">
                <a16:creationId xmlns:a16="http://schemas.microsoft.com/office/drawing/2014/main" id="{4CCFCEB1-49CE-FDDD-0E4C-A7F1E8B31A14}"/>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423138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2B628-B2CB-5248-0774-E0D17E03DD43}"/>
              </a:ext>
            </a:extLst>
          </p:cNvPr>
          <p:cNvSpPr>
            <a:spLocks noGrp="1"/>
          </p:cNvSpPr>
          <p:nvPr>
            <p:ph type="title"/>
          </p:nvPr>
        </p:nvSpPr>
        <p:spPr/>
        <p:txBody>
          <a:bodyPr>
            <a:normAutofit/>
          </a:bodyPr>
          <a:lstStyle/>
          <a:p>
            <a:r>
              <a:rPr lang="en-IN" sz="3400" b="1">
                <a:solidFill>
                  <a:srgbClr val="FFFFFF"/>
                </a:solidFill>
                <a:latin typeface="Calibri" panose="020F0502020204030204" pitchFamily="34" charset="0"/>
              </a:rPr>
              <a:t>Conclusion</a:t>
            </a:r>
          </a:p>
        </p:txBody>
      </p:sp>
      <p:sp>
        <p:nvSpPr>
          <p:cNvPr id="3" name="Text Placeholder 2">
            <a:extLst>
              <a:ext uri="{FF2B5EF4-FFF2-40B4-BE49-F238E27FC236}">
                <a16:creationId xmlns:a16="http://schemas.microsoft.com/office/drawing/2014/main" id="{B1DF4210-03C6-6106-7C3D-3BFA52722C25}"/>
              </a:ext>
            </a:extLst>
          </p:cNvPr>
          <p:cNvSpPr>
            <a:spLocks noGrp="1"/>
          </p:cNvSpPr>
          <p:nvPr>
            <p:ph type="body" idx="1"/>
          </p:nvPr>
        </p:nvSpPr>
        <p:spPr/>
        <p:txBody>
          <a:bodyPr>
            <a:normAutofit/>
          </a:bodyPr>
          <a:lstStyle/>
          <a:p>
            <a:r>
              <a:rPr lang="en-GB" sz="2000" dirty="0">
                <a:solidFill>
                  <a:schemeClr val="bg1"/>
                </a:solidFill>
                <a:latin typeface="Calibri" panose="020F0502020204030204" pitchFamily="34" charset="0"/>
              </a:rPr>
              <a:t>This presentation has explored a holistic framework ranging from IT systems to governance. Data transformation converts raw facts into strategic advantage. Governance and ethics form the foundation of sustainable innovation. Technology must always align with business goals and societal responsibility.</a:t>
            </a:r>
          </a:p>
          <a:p>
            <a:endParaRPr lang="en-IN" sz="2000" dirty="0">
              <a:solidFill>
                <a:schemeClr val="bg1"/>
              </a:solidFill>
              <a:latin typeface="Calibri" panose="020F0502020204030204" pitchFamily="34" charset="0"/>
            </a:endParaRPr>
          </a:p>
          <a:p>
            <a:r>
              <a:rPr lang="en-IN" sz="2000" dirty="0">
                <a:solidFill>
                  <a:schemeClr val="bg1"/>
                </a:solidFill>
                <a:latin typeface="Calibri" panose="020F0502020204030204" pitchFamily="34" charset="0"/>
              </a:rPr>
              <a:t>• Integrates technology analytics governance and ethics comprehensively</a:t>
            </a:r>
          </a:p>
          <a:p>
            <a:r>
              <a:rPr lang="en-IN" sz="2000" dirty="0">
                <a:solidFill>
                  <a:schemeClr val="bg1"/>
                </a:solidFill>
                <a:latin typeface="Calibri" panose="020F0502020204030204" pitchFamily="34" charset="0"/>
              </a:rPr>
              <a:t>• Demonstrates strategic importance of responsible data use</a:t>
            </a:r>
          </a:p>
          <a:p>
            <a:r>
              <a:rPr lang="en-IN" sz="2000" dirty="0">
                <a:solidFill>
                  <a:schemeClr val="bg1"/>
                </a:solidFill>
                <a:latin typeface="Calibri" panose="020F0502020204030204" pitchFamily="34" charset="0"/>
              </a:rPr>
              <a:t>• Aligns digital innovation with societal trust principles</a:t>
            </a:r>
          </a:p>
          <a:p>
            <a:r>
              <a:rPr lang="en-IN" sz="2000" dirty="0">
                <a:solidFill>
                  <a:schemeClr val="bg1"/>
                </a:solidFill>
                <a:latin typeface="Calibri" panose="020F0502020204030204" pitchFamily="34" charset="0"/>
              </a:rPr>
              <a:t>• Prepares professionals for ethical digital leadership</a:t>
            </a:r>
          </a:p>
        </p:txBody>
      </p:sp>
      <p:pic>
        <p:nvPicPr>
          <p:cNvPr id="4" name="Picture 3">
            <a:extLst>
              <a:ext uri="{FF2B5EF4-FFF2-40B4-BE49-F238E27FC236}">
                <a16:creationId xmlns:a16="http://schemas.microsoft.com/office/drawing/2014/main" id="{9BD29FC6-6294-5ACC-DCF2-74594A4F5AAB}"/>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1082114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11FF-EA6F-A866-6D38-8B9BDA4EA5B0}"/>
              </a:ext>
            </a:extLst>
          </p:cNvPr>
          <p:cNvSpPr>
            <a:spLocks noGrp="1"/>
          </p:cNvSpPr>
          <p:nvPr>
            <p:ph type="title"/>
          </p:nvPr>
        </p:nvSpPr>
        <p:spPr>
          <a:xfrm>
            <a:off x="3779520" y="2574925"/>
            <a:ext cx="10515600" cy="1325563"/>
          </a:xfrm>
        </p:spPr>
        <p:txBody>
          <a:bodyPr>
            <a:normAutofit/>
          </a:bodyPr>
          <a:lstStyle/>
          <a:p>
            <a:r>
              <a:rPr lang="en-IN" sz="6000" b="1" dirty="0">
                <a:solidFill>
                  <a:srgbClr val="FFFFFF"/>
                </a:solidFill>
                <a:latin typeface="Calibri" panose="020F0502020204030204" pitchFamily="34" charset="0"/>
              </a:rPr>
              <a:t>THANK YOU</a:t>
            </a:r>
          </a:p>
        </p:txBody>
      </p:sp>
      <p:pic>
        <p:nvPicPr>
          <p:cNvPr id="4" name="Picture 3">
            <a:extLst>
              <a:ext uri="{FF2B5EF4-FFF2-40B4-BE49-F238E27FC236}">
                <a16:creationId xmlns:a16="http://schemas.microsoft.com/office/drawing/2014/main" id="{F3654623-666C-A93E-3875-D41E8A654617}"/>
              </a:ext>
            </a:extLst>
          </p:cNvPr>
          <p:cNvPicPr>
            <a:picLocks noChangeAspect="1"/>
          </p:cNvPicPr>
          <p:nvPr/>
        </p:nvPicPr>
        <p:blipFill>
          <a:blip r:embed="rId2"/>
          <a:stretch>
            <a:fillRect/>
          </a:stretch>
        </p:blipFill>
        <p:spPr>
          <a:xfrm>
            <a:off x="10792689" y="6224155"/>
            <a:ext cx="1385455" cy="613064"/>
          </a:xfrm>
          <a:prstGeom prst="rect">
            <a:avLst/>
          </a:prstGeom>
          <a:solidFill>
            <a:schemeClr val="bg1">
              <a:alpha val="85000"/>
            </a:schemeClr>
          </a:solidFill>
          <a:ln>
            <a:solidFill>
              <a:schemeClr val="accent1"/>
            </a:solidFill>
          </a:ln>
        </p:spPr>
      </p:pic>
    </p:spTree>
    <p:extLst>
      <p:ext uri="{BB962C8B-B14F-4D97-AF65-F5344CB8AC3E}">
        <p14:creationId xmlns:p14="http://schemas.microsoft.com/office/powerpoint/2010/main" val="4244166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3545</Words>
  <Application>Microsoft Office PowerPoint</Application>
  <PresentationFormat>Widescreen</PresentationFormat>
  <Paragraphs>373</Paragraphs>
  <Slides>60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Calibri</vt:lpstr>
      <vt:lpstr>Calibri Light</vt:lpstr>
      <vt:lpstr>Office Theme</vt:lpstr>
      <vt:lpstr>PowerPoint Presentation</vt:lpstr>
      <vt:lpstr>Introduction to IT and Business Systems</vt:lpstr>
      <vt:lpstr>What is Information Technology (IT)?</vt:lpstr>
      <vt:lpstr>Importance of IT in Business</vt:lpstr>
      <vt:lpstr>Business Systems &amp; ERP</vt:lpstr>
      <vt:lpstr>IT–Business Strategy Alignment</vt:lpstr>
      <vt:lpstr>Data Types, Sources &amp; Lifecycle</vt:lpstr>
      <vt:lpstr>Data Types Overview</vt:lpstr>
      <vt:lpstr>Structured vs Semi-Structured vs Unstructured</vt:lpstr>
      <vt:lpstr>Common Data Sources</vt:lpstr>
      <vt:lpstr>Data Lifecycle Management</vt:lpstr>
      <vt:lpstr>Data Quality vs Data Integrity</vt:lpstr>
      <vt:lpstr>Challenges in Data Lifecycle</vt:lpstr>
      <vt:lpstr>Key Takeaways</vt:lpstr>
      <vt:lpstr>Introduction to Business Analyst Role</vt:lpstr>
      <vt:lpstr>Who is a Business Analyst?</vt:lpstr>
      <vt:lpstr>Core Responsibilities</vt:lpstr>
      <vt:lpstr>Key Skills for Business Analysts</vt:lpstr>
      <vt:lpstr>Agile vs Waterfall</vt:lpstr>
      <vt:lpstr>Stakeholder Management</vt:lpstr>
      <vt:lpstr>Tools &amp; Techniques</vt:lpstr>
      <vt:lpstr>Value of Business Analysts</vt:lpstr>
      <vt:lpstr>Data vs Information</vt:lpstr>
      <vt:lpstr>What is Data?</vt:lpstr>
      <vt:lpstr>What is Information?</vt:lpstr>
      <vt:lpstr>Data to Information Transformation</vt:lpstr>
      <vt:lpstr>Importance of Information</vt:lpstr>
      <vt:lpstr>Data vs Information Comparison</vt:lpstr>
      <vt:lpstr>Overview of DDDM</vt:lpstr>
      <vt:lpstr>What is DDDM?</vt:lpstr>
      <vt:lpstr>Benefits of DDDM</vt:lpstr>
      <vt:lpstr>Key Steps in DDDM</vt:lpstr>
      <vt:lpstr>Common Pitfalls in DDDM</vt:lpstr>
      <vt:lpstr>Role of Business Analytics Tools</vt:lpstr>
      <vt:lpstr>Strategic Impact of DDDM</vt:lpstr>
      <vt:lpstr>Scenario Analysis Overview</vt:lpstr>
      <vt:lpstr>What is Scenario Analysis?</vt:lpstr>
      <vt:lpstr>Role in DDDM</vt:lpstr>
      <vt:lpstr>Introduction to Data Governance &amp; Ethics</vt:lpstr>
      <vt:lpstr>What is Data Governance?</vt:lpstr>
      <vt:lpstr>Importance of Data Governance</vt:lpstr>
      <vt:lpstr>Core Components</vt:lpstr>
      <vt:lpstr>Governance Policies</vt:lpstr>
      <vt:lpstr>Benefits of Governance</vt:lpstr>
      <vt:lpstr>Challenges</vt:lpstr>
      <vt:lpstr>What is Data Ethics?</vt:lpstr>
      <vt:lpstr>Importance of Data Ethics</vt:lpstr>
      <vt:lpstr>Key Principles</vt:lpstr>
      <vt:lpstr>Ethical Data Collection</vt:lpstr>
      <vt:lpstr>Data Quality vs Ethical Use</vt:lpstr>
      <vt:lpstr>Compliance Frameworks</vt:lpstr>
      <vt:lpstr>GDPR vs CCPA</vt:lpstr>
      <vt:lpstr>Responsible Data Practices</vt:lpstr>
      <vt:lpstr>Role of Data Stewards</vt:lpstr>
      <vt:lpstr>Data Governance Tools</vt:lpstr>
      <vt:lpstr>Case Studies in Data Ethics</vt:lpstr>
      <vt:lpstr>Future of Governance &amp; Ethics</vt:lpstr>
      <vt:lpstr>Key Takeaways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AYAN THE DON</dc:creator>
  <cp:lastModifiedBy>AYAN THE DON</cp:lastModifiedBy>
  <cp:revision>2</cp:revision>
  <dcterms:created xsi:type="dcterms:W3CDTF">2026-02-27T19:28:43Z</dcterms:created>
  <dcterms:modified xsi:type="dcterms:W3CDTF">2026-03-01T09:34:14Z</dcterms:modified>
</cp:coreProperties>
</file>